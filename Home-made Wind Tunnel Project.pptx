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64" r:id="rId7"/>
    <p:sldId id="258" r:id="rId8"/>
    <p:sldId id="259" r:id="rId9"/>
    <p:sldId id="267" r:id="rId10"/>
    <p:sldId id="260" r:id="rId11"/>
    <p:sldId id="265" r:id="rId12"/>
    <p:sldId id="266" r:id="rId13"/>
    <p:sldId id="268" r:id="rId14"/>
    <p:sldId id="261" r:id="rId15"/>
    <p:sldId id="269" r:id="rId16"/>
    <p:sldId id="270" r:id="rId17"/>
    <p:sldId id="271" r:id="rId18"/>
    <p:sldId id="262" r:id="rId19"/>
    <p:sldId id="26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2" d="100"/>
          <a:sy n="102" d="100"/>
        </p:scale>
        <p:origin x="894"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764C9-3C86-5C82-D1A7-CB86C4D418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DD94D61-E81E-6B44-2DAA-3A96A83EE9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A580119-698F-EF52-7C05-91A25F2AF921}"/>
              </a:ext>
            </a:extLst>
          </p:cNvPr>
          <p:cNvSpPr>
            <a:spLocks noGrp="1"/>
          </p:cNvSpPr>
          <p:nvPr>
            <p:ph type="dt" sz="half" idx="10"/>
          </p:nvPr>
        </p:nvSpPr>
        <p:spPr/>
        <p:txBody>
          <a:bodyPr/>
          <a:lstStyle/>
          <a:p>
            <a:fld id="{EAE8382C-1AA1-4C81-8E5A-3FAFF943B811}" type="datetimeFigureOut">
              <a:rPr lang="en-GB" smtClean="0"/>
              <a:t>29/03/2026</a:t>
            </a:fld>
            <a:endParaRPr lang="en-GB"/>
          </a:p>
        </p:txBody>
      </p:sp>
      <p:sp>
        <p:nvSpPr>
          <p:cNvPr id="5" name="Footer Placeholder 4">
            <a:extLst>
              <a:ext uri="{FF2B5EF4-FFF2-40B4-BE49-F238E27FC236}">
                <a16:creationId xmlns:a16="http://schemas.microsoft.com/office/drawing/2014/main" id="{CDB776E5-BFC0-F4EB-FF40-488424569F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2967728-4D98-EF62-4534-4BED6A7F167A}"/>
              </a:ext>
            </a:extLst>
          </p:cNvPr>
          <p:cNvSpPr>
            <a:spLocks noGrp="1"/>
          </p:cNvSpPr>
          <p:nvPr>
            <p:ph type="sldNum" sz="quarter" idx="12"/>
          </p:nvPr>
        </p:nvSpPr>
        <p:spPr/>
        <p:txBody>
          <a:bodyPr/>
          <a:lstStyle/>
          <a:p>
            <a:fld id="{E70237E0-C998-4E99-A15B-3E441D26C0D1}" type="slidenum">
              <a:rPr lang="en-GB" smtClean="0"/>
              <a:t>‹#›</a:t>
            </a:fld>
            <a:endParaRPr lang="en-GB"/>
          </a:p>
        </p:txBody>
      </p:sp>
    </p:spTree>
    <p:extLst>
      <p:ext uri="{BB962C8B-B14F-4D97-AF65-F5344CB8AC3E}">
        <p14:creationId xmlns:p14="http://schemas.microsoft.com/office/powerpoint/2010/main" val="3672216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9E4AE-EA52-16AB-B0E3-8DBD0EC4068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60944CD-D31C-504C-D3CD-1AADD0E465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185B1DA-35C2-2E04-1C3F-37FB1DB171E1}"/>
              </a:ext>
            </a:extLst>
          </p:cNvPr>
          <p:cNvSpPr>
            <a:spLocks noGrp="1"/>
          </p:cNvSpPr>
          <p:nvPr>
            <p:ph type="dt" sz="half" idx="10"/>
          </p:nvPr>
        </p:nvSpPr>
        <p:spPr/>
        <p:txBody>
          <a:bodyPr/>
          <a:lstStyle/>
          <a:p>
            <a:fld id="{EAE8382C-1AA1-4C81-8E5A-3FAFF943B811}" type="datetimeFigureOut">
              <a:rPr lang="en-GB" smtClean="0"/>
              <a:t>29/03/2026</a:t>
            </a:fld>
            <a:endParaRPr lang="en-GB"/>
          </a:p>
        </p:txBody>
      </p:sp>
      <p:sp>
        <p:nvSpPr>
          <p:cNvPr id="5" name="Footer Placeholder 4">
            <a:extLst>
              <a:ext uri="{FF2B5EF4-FFF2-40B4-BE49-F238E27FC236}">
                <a16:creationId xmlns:a16="http://schemas.microsoft.com/office/drawing/2014/main" id="{282FBBA3-0C23-8868-70DD-89D1FE2DAF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7DEE84E-CE8E-253C-6A51-C9F86C03CF44}"/>
              </a:ext>
            </a:extLst>
          </p:cNvPr>
          <p:cNvSpPr>
            <a:spLocks noGrp="1"/>
          </p:cNvSpPr>
          <p:nvPr>
            <p:ph type="sldNum" sz="quarter" idx="12"/>
          </p:nvPr>
        </p:nvSpPr>
        <p:spPr/>
        <p:txBody>
          <a:bodyPr/>
          <a:lstStyle/>
          <a:p>
            <a:fld id="{E70237E0-C998-4E99-A15B-3E441D26C0D1}" type="slidenum">
              <a:rPr lang="en-GB" smtClean="0"/>
              <a:t>‹#›</a:t>
            </a:fld>
            <a:endParaRPr lang="en-GB"/>
          </a:p>
        </p:txBody>
      </p:sp>
    </p:spTree>
    <p:extLst>
      <p:ext uri="{BB962C8B-B14F-4D97-AF65-F5344CB8AC3E}">
        <p14:creationId xmlns:p14="http://schemas.microsoft.com/office/powerpoint/2010/main" val="1221169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1AC9-7A88-CE4F-445B-AA3ADD6834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0125A46-B7F4-7B03-EEFF-1CA8E3719C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1A4413-42E3-7A2D-2777-46844D4E3215}"/>
              </a:ext>
            </a:extLst>
          </p:cNvPr>
          <p:cNvSpPr>
            <a:spLocks noGrp="1"/>
          </p:cNvSpPr>
          <p:nvPr>
            <p:ph type="dt" sz="half" idx="10"/>
          </p:nvPr>
        </p:nvSpPr>
        <p:spPr/>
        <p:txBody>
          <a:bodyPr/>
          <a:lstStyle/>
          <a:p>
            <a:fld id="{EAE8382C-1AA1-4C81-8E5A-3FAFF943B811}" type="datetimeFigureOut">
              <a:rPr lang="en-GB" smtClean="0"/>
              <a:t>29/03/2026</a:t>
            </a:fld>
            <a:endParaRPr lang="en-GB"/>
          </a:p>
        </p:txBody>
      </p:sp>
      <p:sp>
        <p:nvSpPr>
          <p:cNvPr id="5" name="Footer Placeholder 4">
            <a:extLst>
              <a:ext uri="{FF2B5EF4-FFF2-40B4-BE49-F238E27FC236}">
                <a16:creationId xmlns:a16="http://schemas.microsoft.com/office/drawing/2014/main" id="{2A152A77-4CF4-CD6E-D8F0-010CE44FF40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2B3AA15-FC96-421A-2144-C2D2418D378C}"/>
              </a:ext>
            </a:extLst>
          </p:cNvPr>
          <p:cNvSpPr>
            <a:spLocks noGrp="1"/>
          </p:cNvSpPr>
          <p:nvPr>
            <p:ph type="sldNum" sz="quarter" idx="12"/>
          </p:nvPr>
        </p:nvSpPr>
        <p:spPr/>
        <p:txBody>
          <a:bodyPr/>
          <a:lstStyle/>
          <a:p>
            <a:fld id="{E70237E0-C998-4E99-A15B-3E441D26C0D1}" type="slidenum">
              <a:rPr lang="en-GB" smtClean="0"/>
              <a:t>‹#›</a:t>
            </a:fld>
            <a:endParaRPr lang="en-GB"/>
          </a:p>
        </p:txBody>
      </p:sp>
    </p:spTree>
    <p:extLst>
      <p:ext uri="{BB962C8B-B14F-4D97-AF65-F5344CB8AC3E}">
        <p14:creationId xmlns:p14="http://schemas.microsoft.com/office/powerpoint/2010/main" val="3672170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9C50F-F062-CF58-19CA-BB76A10D14A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484A937-9978-9A17-1576-713785099D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5937F06-ACA4-EECA-6A03-E13FD13158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502AD9C-8ADC-7E1E-715E-5747B849A8B0}"/>
              </a:ext>
            </a:extLst>
          </p:cNvPr>
          <p:cNvSpPr>
            <a:spLocks noGrp="1"/>
          </p:cNvSpPr>
          <p:nvPr>
            <p:ph type="dt" sz="half" idx="10"/>
          </p:nvPr>
        </p:nvSpPr>
        <p:spPr/>
        <p:txBody>
          <a:bodyPr/>
          <a:lstStyle/>
          <a:p>
            <a:fld id="{EAE8382C-1AA1-4C81-8E5A-3FAFF943B811}" type="datetimeFigureOut">
              <a:rPr lang="en-GB" smtClean="0"/>
              <a:t>29/03/2026</a:t>
            </a:fld>
            <a:endParaRPr lang="en-GB"/>
          </a:p>
        </p:txBody>
      </p:sp>
      <p:sp>
        <p:nvSpPr>
          <p:cNvPr id="6" name="Footer Placeholder 5">
            <a:extLst>
              <a:ext uri="{FF2B5EF4-FFF2-40B4-BE49-F238E27FC236}">
                <a16:creationId xmlns:a16="http://schemas.microsoft.com/office/drawing/2014/main" id="{1CE01129-8925-A445-D6E8-A52FC0909D5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A5B5B29-DA85-679F-30F4-4497B54644E2}"/>
              </a:ext>
            </a:extLst>
          </p:cNvPr>
          <p:cNvSpPr>
            <a:spLocks noGrp="1"/>
          </p:cNvSpPr>
          <p:nvPr>
            <p:ph type="sldNum" sz="quarter" idx="12"/>
          </p:nvPr>
        </p:nvSpPr>
        <p:spPr/>
        <p:txBody>
          <a:bodyPr/>
          <a:lstStyle/>
          <a:p>
            <a:fld id="{E70237E0-C998-4E99-A15B-3E441D26C0D1}" type="slidenum">
              <a:rPr lang="en-GB" smtClean="0"/>
              <a:t>‹#›</a:t>
            </a:fld>
            <a:endParaRPr lang="en-GB"/>
          </a:p>
        </p:txBody>
      </p:sp>
    </p:spTree>
    <p:extLst>
      <p:ext uri="{BB962C8B-B14F-4D97-AF65-F5344CB8AC3E}">
        <p14:creationId xmlns:p14="http://schemas.microsoft.com/office/powerpoint/2010/main" val="3565689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D59AC-144B-D753-30DD-663978387BB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530E89B-2EED-78DF-1AD8-53B48847C6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1981E9-0D13-1DB2-B3BE-3AF02D080B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C742F11-1358-038E-5B33-A1BD5BD692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62543E-F423-A943-2E51-7446AA4DC6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9D04BE1-EE04-4BA1-8365-798771B3AAB8}"/>
              </a:ext>
            </a:extLst>
          </p:cNvPr>
          <p:cNvSpPr>
            <a:spLocks noGrp="1"/>
          </p:cNvSpPr>
          <p:nvPr>
            <p:ph type="dt" sz="half" idx="10"/>
          </p:nvPr>
        </p:nvSpPr>
        <p:spPr/>
        <p:txBody>
          <a:bodyPr/>
          <a:lstStyle/>
          <a:p>
            <a:fld id="{EAE8382C-1AA1-4C81-8E5A-3FAFF943B811}" type="datetimeFigureOut">
              <a:rPr lang="en-GB" smtClean="0"/>
              <a:t>29/03/2026</a:t>
            </a:fld>
            <a:endParaRPr lang="en-GB"/>
          </a:p>
        </p:txBody>
      </p:sp>
      <p:sp>
        <p:nvSpPr>
          <p:cNvPr id="8" name="Footer Placeholder 7">
            <a:extLst>
              <a:ext uri="{FF2B5EF4-FFF2-40B4-BE49-F238E27FC236}">
                <a16:creationId xmlns:a16="http://schemas.microsoft.com/office/drawing/2014/main" id="{D8FFEB1C-8C00-2EB3-82E6-981CE39115C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D18454A-2270-2C6D-047E-4F6F40C704A5}"/>
              </a:ext>
            </a:extLst>
          </p:cNvPr>
          <p:cNvSpPr>
            <a:spLocks noGrp="1"/>
          </p:cNvSpPr>
          <p:nvPr>
            <p:ph type="sldNum" sz="quarter" idx="12"/>
          </p:nvPr>
        </p:nvSpPr>
        <p:spPr/>
        <p:txBody>
          <a:bodyPr/>
          <a:lstStyle/>
          <a:p>
            <a:fld id="{E70237E0-C998-4E99-A15B-3E441D26C0D1}" type="slidenum">
              <a:rPr lang="en-GB" smtClean="0"/>
              <a:t>‹#›</a:t>
            </a:fld>
            <a:endParaRPr lang="en-GB"/>
          </a:p>
        </p:txBody>
      </p:sp>
    </p:spTree>
    <p:extLst>
      <p:ext uri="{BB962C8B-B14F-4D97-AF65-F5344CB8AC3E}">
        <p14:creationId xmlns:p14="http://schemas.microsoft.com/office/powerpoint/2010/main" val="419555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343E0-79DB-07FD-E313-AC84E5DA72F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1054689-75B4-367C-F28F-ABA11932C4A8}"/>
              </a:ext>
            </a:extLst>
          </p:cNvPr>
          <p:cNvSpPr>
            <a:spLocks noGrp="1"/>
          </p:cNvSpPr>
          <p:nvPr>
            <p:ph type="dt" sz="half" idx="10"/>
          </p:nvPr>
        </p:nvSpPr>
        <p:spPr/>
        <p:txBody>
          <a:bodyPr/>
          <a:lstStyle/>
          <a:p>
            <a:fld id="{EAE8382C-1AA1-4C81-8E5A-3FAFF943B811}" type="datetimeFigureOut">
              <a:rPr lang="en-GB" smtClean="0"/>
              <a:t>29/03/2026</a:t>
            </a:fld>
            <a:endParaRPr lang="en-GB"/>
          </a:p>
        </p:txBody>
      </p:sp>
      <p:sp>
        <p:nvSpPr>
          <p:cNvPr id="4" name="Footer Placeholder 3">
            <a:extLst>
              <a:ext uri="{FF2B5EF4-FFF2-40B4-BE49-F238E27FC236}">
                <a16:creationId xmlns:a16="http://schemas.microsoft.com/office/drawing/2014/main" id="{9E0D70E6-B76E-1869-BE95-17BDAC020A0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9FBCF60-6BF1-562A-31D5-FB43DFB079B3}"/>
              </a:ext>
            </a:extLst>
          </p:cNvPr>
          <p:cNvSpPr>
            <a:spLocks noGrp="1"/>
          </p:cNvSpPr>
          <p:nvPr>
            <p:ph type="sldNum" sz="quarter" idx="12"/>
          </p:nvPr>
        </p:nvSpPr>
        <p:spPr/>
        <p:txBody>
          <a:bodyPr/>
          <a:lstStyle/>
          <a:p>
            <a:fld id="{E70237E0-C998-4E99-A15B-3E441D26C0D1}" type="slidenum">
              <a:rPr lang="en-GB" smtClean="0"/>
              <a:t>‹#›</a:t>
            </a:fld>
            <a:endParaRPr lang="en-GB"/>
          </a:p>
        </p:txBody>
      </p:sp>
    </p:spTree>
    <p:extLst>
      <p:ext uri="{BB962C8B-B14F-4D97-AF65-F5344CB8AC3E}">
        <p14:creationId xmlns:p14="http://schemas.microsoft.com/office/powerpoint/2010/main" val="2952421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492300-AE02-2EFA-F9A9-8E8814E7F680}"/>
              </a:ext>
            </a:extLst>
          </p:cNvPr>
          <p:cNvSpPr>
            <a:spLocks noGrp="1"/>
          </p:cNvSpPr>
          <p:nvPr>
            <p:ph type="dt" sz="half" idx="10"/>
          </p:nvPr>
        </p:nvSpPr>
        <p:spPr/>
        <p:txBody>
          <a:bodyPr/>
          <a:lstStyle/>
          <a:p>
            <a:fld id="{EAE8382C-1AA1-4C81-8E5A-3FAFF943B811}" type="datetimeFigureOut">
              <a:rPr lang="en-GB" smtClean="0"/>
              <a:t>29/03/2026</a:t>
            </a:fld>
            <a:endParaRPr lang="en-GB"/>
          </a:p>
        </p:txBody>
      </p:sp>
      <p:sp>
        <p:nvSpPr>
          <p:cNvPr id="3" name="Footer Placeholder 2">
            <a:extLst>
              <a:ext uri="{FF2B5EF4-FFF2-40B4-BE49-F238E27FC236}">
                <a16:creationId xmlns:a16="http://schemas.microsoft.com/office/drawing/2014/main" id="{268F2855-BA09-6568-2FE5-818E07FAF6B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E49FAFB-7D27-F98B-4A27-63D8331A81FD}"/>
              </a:ext>
            </a:extLst>
          </p:cNvPr>
          <p:cNvSpPr>
            <a:spLocks noGrp="1"/>
          </p:cNvSpPr>
          <p:nvPr>
            <p:ph type="sldNum" sz="quarter" idx="12"/>
          </p:nvPr>
        </p:nvSpPr>
        <p:spPr/>
        <p:txBody>
          <a:bodyPr/>
          <a:lstStyle/>
          <a:p>
            <a:fld id="{E70237E0-C998-4E99-A15B-3E441D26C0D1}" type="slidenum">
              <a:rPr lang="en-GB" smtClean="0"/>
              <a:t>‹#›</a:t>
            </a:fld>
            <a:endParaRPr lang="en-GB"/>
          </a:p>
        </p:txBody>
      </p:sp>
    </p:spTree>
    <p:extLst>
      <p:ext uri="{BB962C8B-B14F-4D97-AF65-F5344CB8AC3E}">
        <p14:creationId xmlns:p14="http://schemas.microsoft.com/office/powerpoint/2010/main" val="156441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F4254-2A63-0553-EB10-F6035A4AC0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E24783F-765D-DEA2-6947-B102F4D438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7CD858F-BF8E-8EEF-EF9E-D58F1CD9D2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84651D-399A-AD3C-4800-E6219680D47E}"/>
              </a:ext>
            </a:extLst>
          </p:cNvPr>
          <p:cNvSpPr>
            <a:spLocks noGrp="1"/>
          </p:cNvSpPr>
          <p:nvPr>
            <p:ph type="dt" sz="half" idx="10"/>
          </p:nvPr>
        </p:nvSpPr>
        <p:spPr/>
        <p:txBody>
          <a:bodyPr/>
          <a:lstStyle/>
          <a:p>
            <a:fld id="{EAE8382C-1AA1-4C81-8E5A-3FAFF943B811}" type="datetimeFigureOut">
              <a:rPr lang="en-GB" smtClean="0"/>
              <a:t>29/03/2026</a:t>
            </a:fld>
            <a:endParaRPr lang="en-GB"/>
          </a:p>
        </p:txBody>
      </p:sp>
      <p:sp>
        <p:nvSpPr>
          <p:cNvPr id="6" name="Footer Placeholder 5">
            <a:extLst>
              <a:ext uri="{FF2B5EF4-FFF2-40B4-BE49-F238E27FC236}">
                <a16:creationId xmlns:a16="http://schemas.microsoft.com/office/drawing/2014/main" id="{128A0D8E-07F8-10A0-501F-F886D41FD90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53DEF5F-9BBE-DE1B-28CC-B23CF9E68181}"/>
              </a:ext>
            </a:extLst>
          </p:cNvPr>
          <p:cNvSpPr>
            <a:spLocks noGrp="1"/>
          </p:cNvSpPr>
          <p:nvPr>
            <p:ph type="sldNum" sz="quarter" idx="12"/>
          </p:nvPr>
        </p:nvSpPr>
        <p:spPr/>
        <p:txBody>
          <a:bodyPr/>
          <a:lstStyle/>
          <a:p>
            <a:fld id="{E70237E0-C998-4E99-A15B-3E441D26C0D1}" type="slidenum">
              <a:rPr lang="en-GB" smtClean="0"/>
              <a:t>‹#›</a:t>
            </a:fld>
            <a:endParaRPr lang="en-GB"/>
          </a:p>
        </p:txBody>
      </p:sp>
    </p:spTree>
    <p:extLst>
      <p:ext uri="{BB962C8B-B14F-4D97-AF65-F5344CB8AC3E}">
        <p14:creationId xmlns:p14="http://schemas.microsoft.com/office/powerpoint/2010/main" val="3502867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5A662-2D5D-4C24-4DC0-19740ED541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B20CA41-12A6-C774-5A38-ED71D3C0D4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95EB299-D90F-4908-89F3-C4AEFB3FCE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CEAC36-ACBD-8792-8243-381203751FBF}"/>
              </a:ext>
            </a:extLst>
          </p:cNvPr>
          <p:cNvSpPr>
            <a:spLocks noGrp="1"/>
          </p:cNvSpPr>
          <p:nvPr>
            <p:ph type="dt" sz="half" idx="10"/>
          </p:nvPr>
        </p:nvSpPr>
        <p:spPr/>
        <p:txBody>
          <a:bodyPr/>
          <a:lstStyle/>
          <a:p>
            <a:fld id="{EAE8382C-1AA1-4C81-8E5A-3FAFF943B811}" type="datetimeFigureOut">
              <a:rPr lang="en-GB" smtClean="0"/>
              <a:t>29/03/2026</a:t>
            </a:fld>
            <a:endParaRPr lang="en-GB"/>
          </a:p>
        </p:txBody>
      </p:sp>
      <p:sp>
        <p:nvSpPr>
          <p:cNvPr id="6" name="Footer Placeholder 5">
            <a:extLst>
              <a:ext uri="{FF2B5EF4-FFF2-40B4-BE49-F238E27FC236}">
                <a16:creationId xmlns:a16="http://schemas.microsoft.com/office/drawing/2014/main" id="{B74DFE73-6B6F-7E29-5498-37765C810C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8FDB057-2C04-E438-2C31-0E18BB928757}"/>
              </a:ext>
            </a:extLst>
          </p:cNvPr>
          <p:cNvSpPr>
            <a:spLocks noGrp="1"/>
          </p:cNvSpPr>
          <p:nvPr>
            <p:ph type="sldNum" sz="quarter" idx="12"/>
          </p:nvPr>
        </p:nvSpPr>
        <p:spPr/>
        <p:txBody>
          <a:bodyPr/>
          <a:lstStyle/>
          <a:p>
            <a:fld id="{E70237E0-C998-4E99-A15B-3E441D26C0D1}" type="slidenum">
              <a:rPr lang="en-GB" smtClean="0"/>
              <a:t>‹#›</a:t>
            </a:fld>
            <a:endParaRPr lang="en-GB"/>
          </a:p>
        </p:txBody>
      </p:sp>
    </p:spTree>
    <p:extLst>
      <p:ext uri="{BB962C8B-B14F-4D97-AF65-F5344CB8AC3E}">
        <p14:creationId xmlns:p14="http://schemas.microsoft.com/office/powerpoint/2010/main" val="1398360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413A1-3C21-D867-EFA4-323EC859702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FD07467-D9B4-46F0-6C77-9B8570F2A4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7636EF2-CD47-48DA-0A87-1981E4CD66AA}"/>
              </a:ext>
            </a:extLst>
          </p:cNvPr>
          <p:cNvSpPr>
            <a:spLocks noGrp="1"/>
          </p:cNvSpPr>
          <p:nvPr>
            <p:ph type="dt" sz="half" idx="10"/>
          </p:nvPr>
        </p:nvSpPr>
        <p:spPr/>
        <p:txBody>
          <a:bodyPr/>
          <a:lstStyle/>
          <a:p>
            <a:fld id="{EAE8382C-1AA1-4C81-8E5A-3FAFF943B811}" type="datetimeFigureOut">
              <a:rPr lang="en-GB" smtClean="0"/>
              <a:t>29/03/2026</a:t>
            </a:fld>
            <a:endParaRPr lang="en-GB"/>
          </a:p>
        </p:txBody>
      </p:sp>
      <p:sp>
        <p:nvSpPr>
          <p:cNvPr id="5" name="Footer Placeholder 4">
            <a:extLst>
              <a:ext uri="{FF2B5EF4-FFF2-40B4-BE49-F238E27FC236}">
                <a16:creationId xmlns:a16="http://schemas.microsoft.com/office/drawing/2014/main" id="{756D58D5-4609-2561-F89D-9435C520ED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5FA9851-2ED0-4FC9-AB73-12A362777CB3}"/>
              </a:ext>
            </a:extLst>
          </p:cNvPr>
          <p:cNvSpPr>
            <a:spLocks noGrp="1"/>
          </p:cNvSpPr>
          <p:nvPr>
            <p:ph type="sldNum" sz="quarter" idx="12"/>
          </p:nvPr>
        </p:nvSpPr>
        <p:spPr/>
        <p:txBody>
          <a:bodyPr/>
          <a:lstStyle/>
          <a:p>
            <a:fld id="{E70237E0-C998-4E99-A15B-3E441D26C0D1}" type="slidenum">
              <a:rPr lang="en-GB" smtClean="0"/>
              <a:t>‹#›</a:t>
            </a:fld>
            <a:endParaRPr lang="en-GB"/>
          </a:p>
        </p:txBody>
      </p:sp>
    </p:spTree>
    <p:extLst>
      <p:ext uri="{BB962C8B-B14F-4D97-AF65-F5344CB8AC3E}">
        <p14:creationId xmlns:p14="http://schemas.microsoft.com/office/powerpoint/2010/main" val="2860318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F2133D-9892-5CEE-12B2-09B3DC2031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69F769B-416B-CAE8-2B91-B437FB208A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947A5A0-3B11-5C6E-9DCF-815AA9D78907}"/>
              </a:ext>
            </a:extLst>
          </p:cNvPr>
          <p:cNvSpPr>
            <a:spLocks noGrp="1"/>
          </p:cNvSpPr>
          <p:nvPr>
            <p:ph type="dt" sz="half" idx="10"/>
          </p:nvPr>
        </p:nvSpPr>
        <p:spPr/>
        <p:txBody>
          <a:bodyPr/>
          <a:lstStyle/>
          <a:p>
            <a:fld id="{EAE8382C-1AA1-4C81-8E5A-3FAFF943B811}" type="datetimeFigureOut">
              <a:rPr lang="en-GB" smtClean="0"/>
              <a:t>29/03/2026</a:t>
            </a:fld>
            <a:endParaRPr lang="en-GB"/>
          </a:p>
        </p:txBody>
      </p:sp>
      <p:sp>
        <p:nvSpPr>
          <p:cNvPr id="5" name="Footer Placeholder 4">
            <a:extLst>
              <a:ext uri="{FF2B5EF4-FFF2-40B4-BE49-F238E27FC236}">
                <a16:creationId xmlns:a16="http://schemas.microsoft.com/office/drawing/2014/main" id="{135336A6-839F-5716-1938-EC4FDB457B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8740E1-EA91-6CC5-EF48-F15334F4456E}"/>
              </a:ext>
            </a:extLst>
          </p:cNvPr>
          <p:cNvSpPr>
            <a:spLocks noGrp="1"/>
          </p:cNvSpPr>
          <p:nvPr>
            <p:ph type="sldNum" sz="quarter" idx="12"/>
          </p:nvPr>
        </p:nvSpPr>
        <p:spPr/>
        <p:txBody>
          <a:bodyPr/>
          <a:lstStyle/>
          <a:p>
            <a:fld id="{E70237E0-C998-4E99-A15B-3E441D26C0D1}" type="slidenum">
              <a:rPr lang="en-GB" smtClean="0"/>
              <a:t>‹#›</a:t>
            </a:fld>
            <a:endParaRPr lang="en-GB"/>
          </a:p>
        </p:txBody>
      </p:sp>
    </p:spTree>
    <p:extLst>
      <p:ext uri="{BB962C8B-B14F-4D97-AF65-F5344CB8AC3E}">
        <p14:creationId xmlns:p14="http://schemas.microsoft.com/office/powerpoint/2010/main" val="3496675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0FBA97-2573-8E34-743C-0B3669CDF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09FCC00-D60C-3B5C-DD9D-0866383CC4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12E10C1-428B-46A0-6989-6EFEFFB01E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E8382C-1AA1-4C81-8E5A-3FAFF943B811}" type="datetimeFigureOut">
              <a:rPr lang="en-GB" smtClean="0"/>
              <a:t>29/03/2026</a:t>
            </a:fld>
            <a:endParaRPr lang="en-GB"/>
          </a:p>
        </p:txBody>
      </p:sp>
      <p:sp>
        <p:nvSpPr>
          <p:cNvPr id="5" name="Footer Placeholder 4">
            <a:extLst>
              <a:ext uri="{FF2B5EF4-FFF2-40B4-BE49-F238E27FC236}">
                <a16:creationId xmlns:a16="http://schemas.microsoft.com/office/drawing/2014/main" id="{36FD7A88-EC9D-7A74-0345-0E45762F66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3D2DF1E-BB78-EB5B-66EA-229F966299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0237E0-C998-4E99-A15B-3E441D26C0D1}" type="slidenum">
              <a:rPr lang="en-GB" smtClean="0"/>
              <a:t>‹#›</a:t>
            </a:fld>
            <a:endParaRPr lang="en-GB"/>
          </a:p>
        </p:txBody>
      </p:sp>
    </p:spTree>
    <p:extLst>
      <p:ext uri="{BB962C8B-B14F-4D97-AF65-F5344CB8AC3E}">
        <p14:creationId xmlns:p14="http://schemas.microsoft.com/office/powerpoint/2010/main" val="34632402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10" Type="http://schemas.openxmlformats.org/officeDocument/2006/relationships/image" Target="../media/image16.jpeg"/><Relationship Id="rId4" Type="http://schemas.openxmlformats.org/officeDocument/2006/relationships/image" Target="../media/image10.jpeg"/><Relationship Id="rId9"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3.jpeg"/><Relationship Id="rId7" Type="http://schemas.openxmlformats.org/officeDocument/2006/relationships/image" Target="../media/image47.jpeg"/><Relationship Id="rId2" Type="http://schemas.openxmlformats.org/officeDocument/2006/relationships/image" Target="../media/image42.jpeg"/><Relationship Id="rId1" Type="http://schemas.openxmlformats.org/officeDocument/2006/relationships/slideLayout" Target="../slideLayouts/slideLayout2.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s>
</file>

<file path=ppt/slides/_rels/slide12.xml.rels><?xml version="1.0" encoding="UTF-8" standalone="yes"?>
<Relationships xmlns="http://schemas.openxmlformats.org/package/2006/relationships"><Relationship Id="rId3" Type="http://schemas.openxmlformats.org/officeDocument/2006/relationships/image" Target="../media/image49.jpeg"/><Relationship Id="rId7" Type="http://schemas.openxmlformats.org/officeDocument/2006/relationships/image" Target="../media/image53.jpeg"/><Relationship Id="rId2" Type="http://schemas.openxmlformats.org/officeDocument/2006/relationships/image" Target="../media/image48.jpeg"/><Relationship Id="rId1" Type="http://schemas.openxmlformats.org/officeDocument/2006/relationships/slideLayout" Target="../slideLayouts/slideLayout2.xml"/><Relationship Id="rId6" Type="http://schemas.openxmlformats.org/officeDocument/2006/relationships/image" Target="../media/image52.jpeg"/><Relationship Id="rId5" Type="http://schemas.openxmlformats.org/officeDocument/2006/relationships/image" Target="../media/image51.jpeg"/><Relationship Id="rId4" Type="http://schemas.openxmlformats.org/officeDocument/2006/relationships/image" Target="../media/image50.jpeg"/></Relationships>
</file>

<file path=ppt/slides/_rels/slide1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2.xml"/><Relationship Id="rId5" Type="http://schemas.openxmlformats.org/officeDocument/2006/relationships/image" Target="../media/image57.jpeg"/><Relationship Id="rId4" Type="http://schemas.openxmlformats.org/officeDocument/2006/relationships/image" Target="../media/image56.jpeg"/></Relationships>
</file>

<file path=ppt/slides/_rels/slide14.xml.rels><?xml version="1.0" encoding="UTF-8" standalone="yes"?>
<Relationships xmlns="http://schemas.openxmlformats.org/package/2006/relationships"><Relationship Id="rId8" Type="http://schemas.openxmlformats.org/officeDocument/2006/relationships/image" Target="../media/image60.png"/><Relationship Id="rId3" Type="http://schemas.microsoft.com/office/2007/relationships/media" Target="../media/media2.mp4"/><Relationship Id="rId7" Type="http://schemas.openxmlformats.org/officeDocument/2006/relationships/image" Target="../media/image59.png"/><Relationship Id="rId12" Type="http://schemas.openxmlformats.org/officeDocument/2006/relationships/image" Target="../media/image64.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8.jpeg"/><Relationship Id="rId11" Type="http://schemas.openxmlformats.org/officeDocument/2006/relationships/image" Target="../media/image63.jpeg"/><Relationship Id="rId5" Type="http://schemas.openxmlformats.org/officeDocument/2006/relationships/slideLayout" Target="../slideLayouts/slideLayout2.xml"/><Relationship Id="rId10" Type="http://schemas.openxmlformats.org/officeDocument/2006/relationships/image" Target="../media/image62.jpeg"/><Relationship Id="rId4" Type="http://schemas.openxmlformats.org/officeDocument/2006/relationships/video" Target="../media/media2.mp4"/><Relationship Id="rId9" Type="http://schemas.openxmlformats.org/officeDocument/2006/relationships/image" Target="../media/image61.jpeg"/></Relationships>
</file>

<file path=ppt/slides/_rels/slide1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FE65D-84FB-6C6B-DA0F-BF9974486370}"/>
              </a:ext>
            </a:extLst>
          </p:cNvPr>
          <p:cNvSpPr>
            <a:spLocks noGrp="1"/>
          </p:cNvSpPr>
          <p:nvPr>
            <p:ph type="ctrTitle"/>
          </p:nvPr>
        </p:nvSpPr>
        <p:spPr/>
        <p:txBody>
          <a:bodyPr/>
          <a:lstStyle/>
          <a:p>
            <a:r>
              <a:rPr lang="en-GB" dirty="0"/>
              <a:t>Home-made Wind Tunnel Project (not yet finished)</a:t>
            </a:r>
          </a:p>
        </p:txBody>
      </p:sp>
      <p:sp>
        <p:nvSpPr>
          <p:cNvPr id="3" name="Subtitle 2">
            <a:extLst>
              <a:ext uri="{FF2B5EF4-FFF2-40B4-BE49-F238E27FC236}">
                <a16:creationId xmlns:a16="http://schemas.microsoft.com/office/drawing/2014/main" id="{037D1F02-F5EC-11AE-137E-2DE5614A63FA}"/>
              </a:ext>
            </a:extLst>
          </p:cNvPr>
          <p:cNvSpPr>
            <a:spLocks noGrp="1"/>
          </p:cNvSpPr>
          <p:nvPr>
            <p:ph type="subTitle" idx="1"/>
          </p:nvPr>
        </p:nvSpPr>
        <p:spPr/>
        <p:txBody>
          <a:bodyPr/>
          <a:lstStyle/>
          <a:p>
            <a:r>
              <a:rPr lang="en-GB" dirty="0"/>
              <a:t>Arjan Sanghera</a:t>
            </a:r>
          </a:p>
        </p:txBody>
      </p:sp>
    </p:spTree>
    <p:extLst>
      <p:ext uri="{BB962C8B-B14F-4D97-AF65-F5344CB8AC3E}">
        <p14:creationId xmlns:p14="http://schemas.microsoft.com/office/powerpoint/2010/main" val="256514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115BA-2649-0F36-C29F-B087C6EA5044}"/>
              </a:ext>
            </a:extLst>
          </p:cNvPr>
          <p:cNvSpPr>
            <a:spLocks noGrp="1"/>
          </p:cNvSpPr>
          <p:nvPr>
            <p:ph type="title"/>
          </p:nvPr>
        </p:nvSpPr>
        <p:spPr/>
        <p:txBody>
          <a:bodyPr/>
          <a:lstStyle/>
          <a:p>
            <a:r>
              <a:rPr lang="en-GB" dirty="0"/>
              <a:t>The Aim:</a:t>
            </a:r>
          </a:p>
        </p:txBody>
      </p:sp>
      <p:sp>
        <p:nvSpPr>
          <p:cNvPr id="3" name="Content Placeholder 2">
            <a:extLst>
              <a:ext uri="{FF2B5EF4-FFF2-40B4-BE49-F238E27FC236}">
                <a16:creationId xmlns:a16="http://schemas.microsoft.com/office/drawing/2014/main" id="{D131DDFA-0287-0F65-3AC5-1942040F5A4A}"/>
              </a:ext>
            </a:extLst>
          </p:cNvPr>
          <p:cNvSpPr>
            <a:spLocks noGrp="1"/>
          </p:cNvSpPr>
          <p:nvPr>
            <p:ph idx="1"/>
          </p:nvPr>
        </p:nvSpPr>
        <p:spPr/>
        <p:txBody>
          <a:bodyPr/>
          <a:lstStyle/>
          <a:p>
            <a:pPr marL="0" indent="0">
              <a:buNone/>
            </a:pPr>
            <a:r>
              <a:rPr lang="en-GB" dirty="0"/>
              <a:t>I wanted to create a low-cost small wind tunnel to test 1:18 scale cars at speeds of around 5-10ms^-1. I also wanted to be able to visualise the flow of air and collect data for drag and downforce/lift (if I want to test wings). I had a budget of £150</a:t>
            </a:r>
          </a:p>
        </p:txBody>
      </p:sp>
    </p:spTree>
    <p:extLst>
      <p:ext uri="{BB962C8B-B14F-4D97-AF65-F5344CB8AC3E}">
        <p14:creationId xmlns:p14="http://schemas.microsoft.com/office/powerpoint/2010/main" val="125331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ECE5F-B8C2-EF73-13E5-FE824F209DA3}"/>
              </a:ext>
            </a:extLst>
          </p:cNvPr>
          <p:cNvSpPr>
            <a:spLocks noGrp="1"/>
          </p:cNvSpPr>
          <p:nvPr>
            <p:ph type="title"/>
          </p:nvPr>
        </p:nvSpPr>
        <p:spPr/>
        <p:txBody>
          <a:bodyPr/>
          <a:lstStyle/>
          <a:p>
            <a:r>
              <a:rPr lang="en-GB" dirty="0"/>
              <a:t>The structure of a wind tunnel:</a:t>
            </a:r>
          </a:p>
        </p:txBody>
      </p:sp>
      <p:sp>
        <p:nvSpPr>
          <p:cNvPr id="3" name="Content Placeholder 2">
            <a:extLst>
              <a:ext uri="{FF2B5EF4-FFF2-40B4-BE49-F238E27FC236}">
                <a16:creationId xmlns:a16="http://schemas.microsoft.com/office/drawing/2014/main" id="{678EB138-B4CA-C265-2420-9FCD205A1D3A}"/>
              </a:ext>
            </a:extLst>
          </p:cNvPr>
          <p:cNvSpPr>
            <a:spLocks noGrp="1"/>
          </p:cNvSpPr>
          <p:nvPr>
            <p:ph idx="1"/>
          </p:nvPr>
        </p:nvSpPr>
        <p:spPr/>
        <p:txBody>
          <a:bodyPr/>
          <a:lstStyle/>
          <a:p>
            <a:pPr marL="0" indent="0">
              <a:buNone/>
            </a:pPr>
            <a:r>
              <a:rPr lang="en-GB" dirty="0"/>
              <a:t>The basic structure of a wind tunnel consists of:</a:t>
            </a:r>
          </a:p>
          <a:p>
            <a:r>
              <a:rPr lang="en-GB" dirty="0"/>
              <a:t>Contractor to suck in air</a:t>
            </a:r>
          </a:p>
          <a:p>
            <a:r>
              <a:rPr lang="en-GB" dirty="0"/>
              <a:t>Airflow straightener</a:t>
            </a:r>
          </a:p>
          <a:p>
            <a:r>
              <a:rPr lang="en-GB" dirty="0"/>
              <a:t>Test section</a:t>
            </a:r>
          </a:p>
          <a:p>
            <a:r>
              <a:rPr lang="en-GB" dirty="0"/>
              <a:t>Another airflow straightener</a:t>
            </a:r>
          </a:p>
          <a:p>
            <a:r>
              <a:rPr lang="en-GB" dirty="0"/>
              <a:t>Diffuser</a:t>
            </a:r>
          </a:p>
          <a:p>
            <a:r>
              <a:rPr lang="en-GB" dirty="0"/>
              <a:t>Fan</a:t>
            </a:r>
          </a:p>
        </p:txBody>
      </p:sp>
    </p:spTree>
    <p:extLst>
      <p:ext uri="{BB962C8B-B14F-4D97-AF65-F5344CB8AC3E}">
        <p14:creationId xmlns:p14="http://schemas.microsoft.com/office/powerpoint/2010/main" val="3304464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DCACD-95B4-1D91-6F64-788BD929B90F}"/>
              </a:ext>
            </a:extLst>
          </p:cNvPr>
          <p:cNvSpPr>
            <a:spLocks noGrp="1"/>
          </p:cNvSpPr>
          <p:nvPr>
            <p:ph type="title"/>
          </p:nvPr>
        </p:nvSpPr>
        <p:spPr/>
        <p:txBody>
          <a:bodyPr/>
          <a:lstStyle/>
          <a:p>
            <a:r>
              <a:rPr lang="en-GB"/>
              <a:t>Choosing a fan:</a:t>
            </a:r>
            <a:endParaRPr lang="en-GB" dirty="0"/>
          </a:p>
        </p:txBody>
      </p:sp>
      <p:sp>
        <p:nvSpPr>
          <p:cNvPr id="3" name="Content Placeholder 2">
            <a:extLst>
              <a:ext uri="{FF2B5EF4-FFF2-40B4-BE49-F238E27FC236}">
                <a16:creationId xmlns:a16="http://schemas.microsoft.com/office/drawing/2014/main" id="{D92BF017-19BB-BB0F-D121-E74425F515E6}"/>
              </a:ext>
            </a:extLst>
          </p:cNvPr>
          <p:cNvSpPr>
            <a:spLocks noGrp="1"/>
          </p:cNvSpPr>
          <p:nvPr>
            <p:ph idx="1"/>
          </p:nvPr>
        </p:nvSpPr>
        <p:spPr>
          <a:xfrm>
            <a:off x="79827" y="1811597"/>
            <a:ext cx="6627363" cy="4351338"/>
          </a:xfrm>
        </p:spPr>
        <p:txBody>
          <a:bodyPr>
            <a:normAutofit fontScale="85000" lnSpcReduction="20000"/>
          </a:bodyPr>
          <a:lstStyle/>
          <a:p>
            <a:r>
              <a:rPr lang="en-GB" sz="2000"/>
              <a:t>When choosing a fan, I had to look for 2 key factors, flow rate (measured in CFM or m^3/hour), and static pressure (to overcome the resistance from the flow straighteners)</a:t>
            </a:r>
          </a:p>
          <a:p>
            <a:r>
              <a:rPr lang="en-GB" sz="2000"/>
              <a:t>I wanted a fan with a flow rate of around 1000m^3/hour (588CFM) and a static pressure of 500Pa</a:t>
            </a:r>
          </a:p>
          <a:p>
            <a:r>
              <a:rPr lang="en-GB" sz="2000"/>
              <a:t>Originally, I wanted to go for an EDF motor (used in model airplanes), however they are quite expensive (~£60), and that also meant I had to buy an electronic speed controller (~£25), LiPo battery (~50), and LiPo battery charger (~£20). But the final cost of just the fan ended up being (~£155), so I knew that this was just economically unviable</a:t>
            </a:r>
          </a:p>
          <a:p>
            <a:r>
              <a:rPr lang="en-GB" sz="2000"/>
              <a:t>So I then did some further research and found a Blauberg industrial extractor fan (for £75 as it was on sale) with just the right specs I need, and it was half the price and just plug in and use, so I bought that instead</a:t>
            </a:r>
          </a:p>
          <a:p>
            <a:r>
              <a:rPr lang="en-GB" sz="2000"/>
              <a:t>I then set it up and screwed it into a wooden base for support.</a:t>
            </a:r>
          </a:p>
          <a:p>
            <a:r>
              <a:rPr lang="en-GB" sz="2000"/>
              <a:t>I then went and bought a plug-in lamp dimmer so I could adjust the speed of he fan and it worked</a:t>
            </a:r>
            <a:endParaRPr lang="en-GB" sz="2000" dirty="0"/>
          </a:p>
        </p:txBody>
      </p:sp>
      <p:pic>
        <p:nvPicPr>
          <p:cNvPr id="5" name="Picture 4">
            <a:extLst>
              <a:ext uri="{FF2B5EF4-FFF2-40B4-BE49-F238E27FC236}">
                <a16:creationId xmlns:a16="http://schemas.microsoft.com/office/drawing/2014/main" id="{2296ED21-69C0-F59D-0CF4-60905BC9FCE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529768" y="740090"/>
            <a:ext cx="2704456" cy="1612940"/>
          </a:xfrm>
          <a:prstGeom prst="rect">
            <a:avLst/>
          </a:prstGeom>
        </p:spPr>
      </p:pic>
      <p:pic>
        <p:nvPicPr>
          <p:cNvPr id="9" name="Picture 8">
            <a:extLst>
              <a:ext uri="{FF2B5EF4-FFF2-40B4-BE49-F238E27FC236}">
                <a16:creationId xmlns:a16="http://schemas.microsoft.com/office/drawing/2014/main" id="{B57935BE-373B-A856-FEAB-2625346DC56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489021" y="1317523"/>
            <a:ext cx="2787740" cy="1434002"/>
          </a:xfrm>
          <a:prstGeom prst="rect">
            <a:avLst/>
          </a:prstGeom>
        </p:spPr>
      </p:pic>
      <p:pic>
        <p:nvPicPr>
          <p:cNvPr id="11" name="Picture 10">
            <a:extLst>
              <a:ext uri="{FF2B5EF4-FFF2-40B4-BE49-F238E27FC236}">
                <a16:creationId xmlns:a16="http://schemas.microsoft.com/office/drawing/2014/main" id="{60DEC52E-B27E-5ADE-2295-011D372A6DE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01837" y="2444868"/>
            <a:ext cx="2787740" cy="1423585"/>
          </a:xfrm>
          <a:prstGeom prst="rect">
            <a:avLst/>
          </a:prstGeom>
        </p:spPr>
      </p:pic>
      <p:pic>
        <p:nvPicPr>
          <p:cNvPr id="14" name="Picture 13">
            <a:extLst>
              <a:ext uri="{FF2B5EF4-FFF2-40B4-BE49-F238E27FC236}">
                <a16:creationId xmlns:a16="http://schemas.microsoft.com/office/drawing/2014/main" id="{1CC134E6-D67D-0744-7C02-644D625C3187}"/>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754736" y="2837987"/>
            <a:ext cx="2380249" cy="1492481"/>
          </a:xfrm>
          <a:prstGeom prst="rect">
            <a:avLst/>
          </a:prstGeom>
        </p:spPr>
      </p:pic>
      <p:pic>
        <p:nvPicPr>
          <p:cNvPr id="15" name="Picture 14">
            <a:extLst>
              <a:ext uri="{FF2B5EF4-FFF2-40B4-BE49-F238E27FC236}">
                <a16:creationId xmlns:a16="http://schemas.microsoft.com/office/drawing/2014/main" id="{4949E4C9-CCA4-03DE-65EE-4BC3DC46DA0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234224" y="2872434"/>
            <a:ext cx="2787740" cy="1423585"/>
          </a:xfrm>
          <a:prstGeom prst="rect">
            <a:avLst/>
          </a:prstGeom>
        </p:spPr>
      </p:pic>
      <p:pic>
        <p:nvPicPr>
          <p:cNvPr id="19" name="Picture 18">
            <a:extLst>
              <a:ext uri="{FF2B5EF4-FFF2-40B4-BE49-F238E27FC236}">
                <a16:creationId xmlns:a16="http://schemas.microsoft.com/office/drawing/2014/main" id="{1B8E888B-AA93-61DA-29C4-0CAE677344B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7058412" y="4367636"/>
            <a:ext cx="3153991" cy="2345682"/>
          </a:xfrm>
          <a:prstGeom prst="rect">
            <a:avLst/>
          </a:prstGeom>
        </p:spPr>
      </p:pic>
      <p:sp>
        <p:nvSpPr>
          <p:cNvPr id="22" name="TextBox 21">
            <a:extLst>
              <a:ext uri="{FF2B5EF4-FFF2-40B4-BE49-F238E27FC236}">
                <a16:creationId xmlns:a16="http://schemas.microsoft.com/office/drawing/2014/main" id="{067490DC-BCCC-9C18-7E29-28BBA086D537}"/>
              </a:ext>
            </a:extLst>
          </p:cNvPr>
          <p:cNvSpPr txBox="1"/>
          <p:nvPr/>
        </p:nvSpPr>
        <p:spPr>
          <a:xfrm>
            <a:off x="9966135" y="4872762"/>
            <a:ext cx="1833512" cy="923330"/>
          </a:xfrm>
          <a:prstGeom prst="rect">
            <a:avLst/>
          </a:prstGeom>
          <a:noFill/>
        </p:spPr>
        <p:txBody>
          <a:bodyPr wrap="square" rtlCol="0">
            <a:spAutoFit/>
          </a:bodyPr>
          <a:lstStyle/>
          <a:p>
            <a:r>
              <a:rPr lang="en-GB" dirty="0"/>
              <a:t>(It was on sale for £75 when I bought it)</a:t>
            </a:r>
          </a:p>
        </p:txBody>
      </p:sp>
      <p:pic>
        <p:nvPicPr>
          <p:cNvPr id="27" name="Picture 26">
            <a:extLst>
              <a:ext uri="{FF2B5EF4-FFF2-40B4-BE49-F238E27FC236}">
                <a16:creationId xmlns:a16="http://schemas.microsoft.com/office/drawing/2014/main" id="{532496BC-9975-81CA-1CFC-0E3D5CB3B43F}"/>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5926842" y="5621895"/>
            <a:ext cx="955959" cy="1255003"/>
          </a:xfrm>
          <a:prstGeom prst="rect">
            <a:avLst/>
          </a:prstGeom>
        </p:spPr>
      </p:pic>
      <p:pic>
        <p:nvPicPr>
          <p:cNvPr id="30" name="Picture 29">
            <a:extLst>
              <a:ext uri="{FF2B5EF4-FFF2-40B4-BE49-F238E27FC236}">
                <a16:creationId xmlns:a16="http://schemas.microsoft.com/office/drawing/2014/main" id="{0DCDD828-EC80-AFDF-EB6C-0D73D09A96EA}"/>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4972074" y="5672665"/>
            <a:ext cx="779157" cy="1153462"/>
          </a:xfrm>
          <a:prstGeom prst="rect">
            <a:avLst/>
          </a:prstGeom>
        </p:spPr>
      </p:pic>
    </p:spTree>
    <p:extLst>
      <p:ext uri="{BB962C8B-B14F-4D97-AF65-F5344CB8AC3E}">
        <p14:creationId xmlns:p14="http://schemas.microsoft.com/office/powerpoint/2010/main" val="172928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F1A23-6CD5-7419-81FC-160440905FE8}"/>
              </a:ext>
            </a:extLst>
          </p:cNvPr>
          <p:cNvSpPr>
            <a:spLocks noGrp="1"/>
          </p:cNvSpPr>
          <p:nvPr>
            <p:ph type="title"/>
          </p:nvPr>
        </p:nvSpPr>
        <p:spPr/>
        <p:txBody>
          <a:bodyPr/>
          <a:lstStyle/>
          <a:p>
            <a:r>
              <a:rPr lang="en-GB"/>
              <a:t>Smoke Generation:</a:t>
            </a:r>
            <a:endParaRPr lang="en-GB" dirty="0"/>
          </a:p>
        </p:txBody>
      </p:sp>
      <p:sp>
        <p:nvSpPr>
          <p:cNvPr id="3" name="Content Placeholder 2">
            <a:extLst>
              <a:ext uri="{FF2B5EF4-FFF2-40B4-BE49-F238E27FC236}">
                <a16:creationId xmlns:a16="http://schemas.microsoft.com/office/drawing/2014/main" id="{9C3C362E-2CE1-954F-38A0-B4C02CC0EEFE}"/>
              </a:ext>
            </a:extLst>
          </p:cNvPr>
          <p:cNvSpPr>
            <a:spLocks noGrp="1"/>
          </p:cNvSpPr>
          <p:nvPr>
            <p:ph idx="1"/>
          </p:nvPr>
        </p:nvSpPr>
        <p:spPr>
          <a:xfrm>
            <a:off x="838201" y="1825625"/>
            <a:ext cx="6411012" cy="4351338"/>
          </a:xfrm>
        </p:spPr>
        <p:txBody>
          <a:bodyPr>
            <a:normAutofit fontScale="77500" lnSpcReduction="20000"/>
          </a:bodyPr>
          <a:lstStyle/>
          <a:p>
            <a:r>
              <a:rPr lang="en-GB" dirty="0"/>
              <a:t>I used 4 small ultrasonic water misters for smoke generation</a:t>
            </a:r>
          </a:p>
          <a:p>
            <a:r>
              <a:rPr lang="en-GB" dirty="0"/>
              <a:t>When I first tested them, I created chambers that would direct the smoke, but no-matter how I directed the smoke, it just wouldn’t come out fast enough, so I decided to scrap the idea of having an external container for smoke generation and I decided to place the water misters inside the tunnel itself.</a:t>
            </a:r>
          </a:p>
          <a:p>
            <a:r>
              <a:rPr lang="en-GB" dirty="0"/>
              <a:t>Also, many of my prints were leaking water, and after experimenting with printing with 100% infill, I found that the most effective way to make my prints watertight, were to print them sideways</a:t>
            </a:r>
          </a:p>
          <a:p>
            <a:r>
              <a:rPr lang="en-GB" dirty="0"/>
              <a:t>To see the mist clearly in the tunnel, I will also use a strip of LEDs to illuminate the inside of the tunnel.</a:t>
            </a:r>
          </a:p>
        </p:txBody>
      </p:sp>
      <p:pic>
        <p:nvPicPr>
          <p:cNvPr id="7" name="Picture 6">
            <a:extLst>
              <a:ext uri="{FF2B5EF4-FFF2-40B4-BE49-F238E27FC236}">
                <a16:creationId xmlns:a16="http://schemas.microsoft.com/office/drawing/2014/main" id="{03F5B172-D35C-649E-DB50-8A08865A3CDB}"/>
              </a:ext>
            </a:extLst>
          </p:cNvPr>
          <p:cNvPicPr>
            <a:picLocks noChangeAspect="1"/>
          </p:cNvPicPr>
          <p:nvPr/>
        </p:nvPicPr>
        <p:blipFill>
          <a:blip r:embed="rId2"/>
          <a:stretch>
            <a:fillRect/>
          </a:stretch>
        </p:blipFill>
        <p:spPr>
          <a:xfrm>
            <a:off x="7249213" y="230188"/>
            <a:ext cx="4673172" cy="1325563"/>
          </a:xfrm>
          <a:prstGeom prst="rect">
            <a:avLst/>
          </a:prstGeom>
        </p:spPr>
      </p:pic>
      <p:pic>
        <p:nvPicPr>
          <p:cNvPr id="10" name="Picture 9">
            <a:extLst>
              <a:ext uri="{FF2B5EF4-FFF2-40B4-BE49-F238E27FC236}">
                <a16:creationId xmlns:a16="http://schemas.microsoft.com/office/drawing/2014/main" id="{82C1CBD1-7040-2840-394A-0B15A6A3F830}"/>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7249213" y="1650723"/>
            <a:ext cx="884133" cy="1819184"/>
          </a:xfrm>
          <a:prstGeom prst="rect">
            <a:avLst/>
          </a:prstGeom>
        </p:spPr>
      </p:pic>
      <p:pic>
        <p:nvPicPr>
          <p:cNvPr id="13" name="Picture 12">
            <a:extLst>
              <a:ext uri="{FF2B5EF4-FFF2-40B4-BE49-F238E27FC236}">
                <a16:creationId xmlns:a16="http://schemas.microsoft.com/office/drawing/2014/main" id="{0C1AE08B-833D-CB52-EDEB-D04532A712A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249213" y="3604844"/>
            <a:ext cx="1408165" cy="1708484"/>
          </a:xfrm>
          <a:prstGeom prst="rect">
            <a:avLst/>
          </a:prstGeom>
        </p:spPr>
      </p:pic>
      <p:pic>
        <p:nvPicPr>
          <p:cNvPr id="16" name="Picture 15">
            <a:extLst>
              <a:ext uri="{FF2B5EF4-FFF2-40B4-BE49-F238E27FC236}">
                <a16:creationId xmlns:a16="http://schemas.microsoft.com/office/drawing/2014/main" id="{54327F17-41AD-AD32-5C91-D802FF5657E1}"/>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886784" y="3531896"/>
            <a:ext cx="1398029" cy="1854380"/>
          </a:xfrm>
          <a:prstGeom prst="rect">
            <a:avLst/>
          </a:prstGeom>
        </p:spPr>
      </p:pic>
      <p:pic>
        <p:nvPicPr>
          <p:cNvPr id="19" name="Picture 18">
            <a:extLst>
              <a:ext uri="{FF2B5EF4-FFF2-40B4-BE49-F238E27FC236}">
                <a16:creationId xmlns:a16="http://schemas.microsoft.com/office/drawing/2014/main" id="{455882DA-C093-F865-B1DC-D61D3AF9C208}"/>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0514219" y="3759698"/>
            <a:ext cx="1488859" cy="1544672"/>
          </a:xfrm>
          <a:prstGeom prst="rect">
            <a:avLst/>
          </a:prstGeom>
        </p:spPr>
      </p:pic>
      <p:pic>
        <p:nvPicPr>
          <p:cNvPr id="22" name="Picture 21">
            <a:extLst>
              <a:ext uri="{FF2B5EF4-FFF2-40B4-BE49-F238E27FC236}">
                <a16:creationId xmlns:a16="http://schemas.microsoft.com/office/drawing/2014/main" id="{8AC79318-87FB-8EBA-B8E9-859DB14A95CB}"/>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8248850" y="1855699"/>
            <a:ext cx="1078029" cy="1511185"/>
          </a:xfrm>
          <a:prstGeom prst="rect">
            <a:avLst/>
          </a:prstGeom>
        </p:spPr>
      </p:pic>
      <p:pic>
        <p:nvPicPr>
          <p:cNvPr id="25" name="Picture 24">
            <a:extLst>
              <a:ext uri="{FF2B5EF4-FFF2-40B4-BE49-F238E27FC236}">
                <a16:creationId xmlns:a16="http://schemas.microsoft.com/office/drawing/2014/main" id="{A6DB1F28-6845-E07F-D0C3-6880CB9596DC}"/>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9442383" y="1781172"/>
            <a:ext cx="1008712" cy="1585712"/>
          </a:xfrm>
          <a:prstGeom prst="rect">
            <a:avLst/>
          </a:prstGeom>
        </p:spPr>
      </p:pic>
      <p:pic>
        <p:nvPicPr>
          <p:cNvPr id="28" name="Picture 27">
            <a:extLst>
              <a:ext uri="{FF2B5EF4-FFF2-40B4-BE49-F238E27FC236}">
                <a16:creationId xmlns:a16="http://schemas.microsoft.com/office/drawing/2014/main" id="{78D8321A-0C56-79AC-6FE7-661515203CD7}"/>
              </a:ext>
            </a:extLst>
          </p:cNvPr>
          <p:cNvPicPr>
            <a:picLocks noChangeAspect="1"/>
          </p:cNvPicPr>
          <p:nvPr/>
        </p:nvPicPr>
        <p:blipFill>
          <a:blip r:embed="rId9" cstate="print">
            <a:extLst>
              <a:ext uri="{28A0092B-C50C-407E-A947-70E740481C1C}">
                <a14:useLocalDpi xmlns:a14="http://schemas.microsoft.com/office/drawing/2010/main"/>
              </a:ext>
            </a:extLst>
          </a:blip>
          <a:srcRect/>
          <a:stretch>
            <a:fillRect/>
          </a:stretch>
        </p:blipFill>
        <p:spPr>
          <a:xfrm>
            <a:off x="10787743" y="1731657"/>
            <a:ext cx="1132111" cy="1852134"/>
          </a:xfrm>
          <a:prstGeom prst="rect">
            <a:avLst/>
          </a:prstGeom>
        </p:spPr>
      </p:pic>
      <p:pic>
        <p:nvPicPr>
          <p:cNvPr id="31" name="Picture 30">
            <a:extLst>
              <a:ext uri="{FF2B5EF4-FFF2-40B4-BE49-F238E27FC236}">
                <a16:creationId xmlns:a16="http://schemas.microsoft.com/office/drawing/2014/main" id="{1AA8F904-09BF-A30B-9FA7-8D56554A7D59}"/>
              </a:ext>
            </a:extLst>
          </p:cNvPr>
          <p:cNvPicPr>
            <a:picLocks noChangeAspect="1"/>
          </p:cNvPicPr>
          <p:nvPr/>
        </p:nvPicPr>
        <p:blipFill>
          <a:blip r:embed="rId10" cstate="print">
            <a:extLst>
              <a:ext uri="{28A0092B-C50C-407E-A947-70E740481C1C}">
                <a14:useLocalDpi xmlns:a14="http://schemas.microsoft.com/office/drawing/2010/main"/>
              </a:ext>
            </a:extLst>
          </a:blip>
          <a:srcRect/>
          <a:stretch>
            <a:fillRect/>
          </a:stretch>
        </p:blipFill>
        <p:spPr>
          <a:xfrm rot="16200000">
            <a:off x="8533134" y="4658960"/>
            <a:ext cx="1221532" cy="2905242"/>
          </a:xfrm>
          <a:prstGeom prst="rect">
            <a:avLst/>
          </a:prstGeom>
        </p:spPr>
      </p:pic>
    </p:spTree>
    <p:extLst>
      <p:ext uri="{BB962C8B-B14F-4D97-AF65-F5344CB8AC3E}">
        <p14:creationId xmlns:p14="http://schemas.microsoft.com/office/powerpoint/2010/main" val="148239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51E57-0407-B7AB-4C62-83FA716223A2}"/>
              </a:ext>
            </a:extLst>
          </p:cNvPr>
          <p:cNvSpPr>
            <a:spLocks noGrp="1"/>
          </p:cNvSpPr>
          <p:nvPr>
            <p:ph type="title"/>
          </p:nvPr>
        </p:nvSpPr>
        <p:spPr/>
        <p:txBody>
          <a:bodyPr/>
          <a:lstStyle/>
          <a:p>
            <a:r>
              <a:rPr lang="en-GB" dirty="0"/>
              <a:t>Collecting Data:</a:t>
            </a:r>
          </a:p>
        </p:txBody>
      </p:sp>
      <p:sp>
        <p:nvSpPr>
          <p:cNvPr id="3" name="Content Placeholder 2">
            <a:extLst>
              <a:ext uri="{FF2B5EF4-FFF2-40B4-BE49-F238E27FC236}">
                <a16:creationId xmlns:a16="http://schemas.microsoft.com/office/drawing/2014/main" id="{452E9EF5-F8E3-38F4-9FB7-E98BEF8120BC}"/>
              </a:ext>
            </a:extLst>
          </p:cNvPr>
          <p:cNvSpPr>
            <a:spLocks noGrp="1"/>
          </p:cNvSpPr>
          <p:nvPr>
            <p:ph idx="1"/>
          </p:nvPr>
        </p:nvSpPr>
        <p:spPr>
          <a:xfrm>
            <a:off x="838200" y="1825625"/>
            <a:ext cx="5257800" cy="4351338"/>
          </a:xfrm>
        </p:spPr>
        <p:txBody>
          <a:bodyPr>
            <a:normAutofit lnSpcReduction="10000"/>
          </a:bodyPr>
          <a:lstStyle/>
          <a:p>
            <a:r>
              <a:rPr lang="en-GB" dirty="0"/>
              <a:t>To get the wind speed, I will use an anemometer I bought for £10</a:t>
            </a:r>
          </a:p>
          <a:p>
            <a:r>
              <a:rPr lang="en-GB" dirty="0"/>
              <a:t>To get data for the drag and downforce/lift, I will use 2 load cells, each connected to an ESP32 microcontroller which will display live readings on a screen and will also host a website to show more accurate results and graphs.</a:t>
            </a:r>
          </a:p>
        </p:txBody>
      </p:sp>
      <p:pic>
        <p:nvPicPr>
          <p:cNvPr id="6" name="Picture 5">
            <a:extLst>
              <a:ext uri="{FF2B5EF4-FFF2-40B4-BE49-F238E27FC236}">
                <a16:creationId xmlns:a16="http://schemas.microsoft.com/office/drawing/2014/main" id="{65980D73-9783-DEB9-36B8-0FCD7123A2F5}"/>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rot="16200000">
            <a:off x="7305576" y="835865"/>
            <a:ext cx="1206808" cy="2916455"/>
          </a:xfrm>
          <a:prstGeom prst="rect">
            <a:avLst/>
          </a:prstGeom>
        </p:spPr>
      </p:pic>
      <p:pic>
        <p:nvPicPr>
          <p:cNvPr id="9" name="Picture 8">
            <a:extLst>
              <a:ext uri="{FF2B5EF4-FFF2-40B4-BE49-F238E27FC236}">
                <a16:creationId xmlns:a16="http://schemas.microsoft.com/office/drawing/2014/main" id="{D5C193B5-DB3B-F724-5A7E-C81D98B5431B}"/>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rot="5400000">
            <a:off x="6353754" y="3011359"/>
            <a:ext cx="1480574" cy="1629878"/>
          </a:xfrm>
          <a:prstGeom prst="rect">
            <a:avLst/>
          </a:prstGeom>
        </p:spPr>
      </p:pic>
      <p:pic>
        <p:nvPicPr>
          <p:cNvPr id="12" name="Picture 11">
            <a:extLst>
              <a:ext uri="{FF2B5EF4-FFF2-40B4-BE49-F238E27FC236}">
                <a16:creationId xmlns:a16="http://schemas.microsoft.com/office/drawing/2014/main" id="{FF0C13B5-7F7F-65D4-7BEB-B3499CEAA240}"/>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8092082" y="3088152"/>
            <a:ext cx="1351088" cy="2269815"/>
          </a:xfrm>
          <a:prstGeom prst="rect">
            <a:avLst/>
          </a:prstGeom>
        </p:spPr>
      </p:pic>
      <p:pic>
        <p:nvPicPr>
          <p:cNvPr id="15" name="Picture 14">
            <a:extLst>
              <a:ext uri="{FF2B5EF4-FFF2-40B4-BE49-F238E27FC236}">
                <a16:creationId xmlns:a16="http://schemas.microsoft.com/office/drawing/2014/main" id="{AD6F4B51-7E99-51BF-4345-A563BD7F4DFD}"/>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9626273" y="3086011"/>
            <a:ext cx="1727528" cy="2252971"/>
          </a:xfrm>
          <a:prstGeom prst="rect">
            <a:avLst/>
          </a:prstGeom>
        </p:spPr>
      </p:pic>
    </p:spTree>
    <p:extLst>
      <p:ext uri="{BB962C8B-B14F-4D97-AF65-F5344CB8AC3E}">
        <p14:creationId xmlns:p14="http://schemas.microsoft.com/office/powerpoint/2010/main" val="88640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47107-5912-2971-8919-93A0FD209A96}"/>
              </a:ext>
            </a:extLst>
          </p:cNvPr>
          <p:cNvSpPr>
            <a:spLocks noGrp="1"/>
          </p:cNvSpPr>
          <p:nvPr>
            <p:ph type="title"/>
          </p:nvPr>
        </p:nvSpPr>
        <p:spPr/>
        <p:txBody>
          <a:bodyPr/>
          <a:lstStyle/>
          <a:p>
            <a:r>
              <a:rPr lang="en-GB" dirty="0"/>
              <a:t>Designing the tunnel</a:t>
            </a:r>
          </a:p>
        </p:txBody>
      </p:sp>
      <p:sp>
        <p:nvSpPr>
          <p:cNvPr id="3" name="Content Placeholder 2">
            <a:extLst>
              <a:ext uri="{FF2B5EF4-FFF2-40B4-BE49-F238E27FC236}">
                <a16:creationId xmlns:a16="http://schemas.microsoft.com/office/drawing/2014/main" id="{AC803864-AFC2-5E4C-74C9-B02251B9C7D1}"/>
              </a:ext>
            </a:extLst>
          </p:cNvPr>
          <p:cNvSpPr>
            <a:spLocks noGrp="1"/>
          </p:cNvSpPr>
          <p:nvPr>
            <p:ph idx="1"/>
          </p:nvPr>
        </p:nvSpPr>
        <p:spPr>
          <a:xfrm>
            <a:off x="838200" y="1825625"/>
            <a:ext cx="5398971" cy="4351338"/>
          </a:xfrm>
        </p:spPr>
        <p:txBody>
          <a:bodyPr>
            <a:normAutofit fontScale="85000" lnSpcReduction="10000"/>
          </a:bodyPr>
          <a:lstStyle/>
          <a:p>
            <a:r>
              <a:rPr lang="en-GB" dirty="0"/>
              <a:t>I wanted to 3D print the tunnel using my 3D printer, so I bought 4kg of black </a:t>
            </a:r>
            <a:r>
              <a:rPr lang="en-GB" dirty="0" err="1"/>
              <a:t>Elegoo</a:t>
            </a:r>
            <a:r>
              <a:rPr lang="en-GB" dirty="0"/>
              <a:t> Rapid PETG for £40</a:t>
            </a:r>
          </a:p>
          <a:p>
            <a:r>
              <a:rPr lang="en-GB" dirty="0"/>
              <a:t>I wanted the tunnel to have a cross section of 160x140mm to fit the model cars, and a length of around 400mm.</a:t>
            </a:r>
          </a:p>
          <a:p>
            <a:r>
              <a:rPr lang="en-GB" dirty="0"/>
              <a:t>First, I sketched the design on my iPad, and then I took it to life in SolidWorks.</a:t>
            </a:r>
          </a:p>
          <a:p>
            <a:r>
              <a:rPr lang="en-GB" dirty="0"/>
              <a:t>First, I built the main frame, ensuring to include the slots for the misters, air straighteners, anemometer, and LEDs</a:t>
            </a:r>
          </a:p>
        </p:txBody>
      </p:sp>
      <p:pic>
        <p:nvPicPr>
          <p:cNvPr id="6" name="Picture 5">
            <a:extLst>
              <a:ext uri="{FF2B5EF4-FFF2-40B4-BE49-F238E27FC236}">
                <a16:creationId xmlns:a16="http://schemas.microsoft.com/office/drawing/2014/main" id="{9AA562C2-6B4F-97B4-AF66-11123D843F4F}"/>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10576169" y="1143730"/>
            <a:ext cx="1266301" cy="2974448"/>
          </a:xfrm>
          <a:prstGeom prst="rect">
            <a:avLst/>
          </a:prstGeom>
        </p:spPr>
      </p:pic>
      <p:pic>
        <p:nvPicPr>
          <p:cNvPr id="9" name="Picture 8">
            <a:extLst>
              <a:ext uri="{FF2B5EF4-FFF2-40B4-BE49-F238E27FC236}">
                <a16:creationId xmlns:a16="http://schemas.microsoft.com/office/drawing/2014/main" id="{69CB630E-3A74-6CD1-EBBD-908813A6259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237171" y="898437"/>
            <a:ext cx="3966271" cy="3648595"/>
          </a:xfrm>
          <a:prstGeom prst="rect">
            <a:avLst/>
          </a:prstGeom>
        </p:spPr>
      </p:pic>
      <p:pic>
        <p:nvPicPr>
          <p:cNvPr id="11" name="Picture 10">
            <a:extLst>
              <a:ext uri="{FF2B5EF4-FFF2-40B4-BE49-F238E27FC236}">
                <a16:creationId xmlns:a16="http://schemas.microsoft.com/office/drawing/2014/main" id="{EB88C675-9578-554D-68ED-7FD8CA2614D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09096" y="4547032"/>
            <a:ext cx="5512067" cy="2111717"/>
          </a:xfrm>
          <a:prstGeom prst="rect">
            <a:avLst/>
          </a:prstGeom>
        </p:spPr>
      </p:pic>
    </p:spTree>
    <p:extLst>
      <p:ext uri="{BB962C8B-B14F-4D97-AF65-F5344CB8AC3E}">
        <p14:creationId xmlns:p14="http://schemas.microsoft.com/office/powerpoint/2010/main" val="3526022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7B68B-A15A-3B53-FA27-DD8CC577010E}"/>
              </a:ext>
            </a:extLst>
          </p:cNvPr>
          <p:cNvSpPr>
            <a:spLocks noGrp="1"/>
          </p:cNvSpPr>
          <p:nvPr>
            <p:ph type="title"/>
          </p:nvPr>
        </p:nvSpPr>
        <p:spPr/>
        <p:txBody>
          <a:bodyPr/>
          <a:lstStyle/>
          <a:p>
            <a:r>
              <a:rPr lang="en-GB" dirty="0"/>
              <a:t>Designing the tunnel:</a:t>
            </a:r>
          </a:p>
        </p:txBody>
      </p:sp>
      <p:sp>
        <p:nvSpPr>
          <p:cNvPr id="3" name="Content Placeholder 2">
            <a:extLst>
              <a:ext uri="{FF2B5EF4-FFF2-40B4-BE49-F238E27FC236}">
                <a16:creationId xmlns:a16="http://schemas.microsoft.com/office/drawing/2014/main" id="{4BBF00B2-80BF-E193-D30D-985201DA3C39}"/>
              </a:ext>
            </a:extLst>
          </p:cNvPr>
          <p:cNvSpPr>
            <a:spLocks noGrp="1"/>
          </p:cNvSpPr>
          <p:nvPr>
            <p:ph idx="1"/>
          </p:nvPr>
        </p:nvSpPr>
        <p:spPr>
          <a:xfrm>
            <a:off x="838200" y="1825625"/>
            <a:ext cx="5841733" cy="4351338"/>
          </a:xfrm>
        </p:spPr>
        <p:txBody>
          <a:bodyPr>
            <a:normAutofit fontScale="92500" lnSpcReduction="20000"/>
          </a:bodyPr>
          <a:lstStyle/>
          <a:p>
            <a:r>
              <a:rPr lang="en-GB" dirty="0"/>
              <a:t>I then finalised the stand for the anemometer that would connect to the back of the main tunnel</a:t>
            </a:r>
          </a:p>
          <a:p>
            <a:r>
              <a:rPr lang="en-GB" dirty="0"/>
              <a:t>Then I designed the air straighteners with a 7mm hexagon honeycomb structure. I need 2 20mm long ones, and a 60mm long one.</a:t>
            </a:r>
          </a:p>
          <a:p>
            <a:r>
              <a:rPr lang="en-GB" dirty="0"/>
              <a:t>I then designed the diffuser to guide the back of the tunnel into the fan</a:t>
            </a:r>
          </a:p>
          <a:p>
            <a:r>
              <a:rPr lang="en-GB" dirty="0"/>
              <a:t>Then I designed the window to connect to the main frame. I also ordered some clear Perspex to use as a window.</a:t>
            </a:r>
          </a:p>
          <a:p>
            <a:pPr marL="0" indent="0">
              <a:buNone/>
            </a:pPr>
            <a:endParaRPr lang="en-GB" dirty="0"/>
          </a:p>
        </p:txBody>
      </p:sp>
      <p:pic>
        <p:nvPicPr>
          <p:cNvPr id="5" name="Picture 4">
            <a:extLst>
              <a:ext uri="{FF2B5EF4-FFF2-40B4-BE49-F238E27FC236}">
                <a16:creationId xmlns:a16="http://schemas.microsoft.com/office/drawing/2014/main" id="{E1053B5D-264B-4D48-722B-1BB7FC5A5119}"/>
              </a:ext>
            </a:extLst>
          </p:cNvPr>
          <p:cNvPicPr>
            <a:picLocks noChangeAspect="1"/>
          </p:cNvPicPr>
          <p:nvPr/>
        </p:nvPicPr>
        <p:blipFill>
          <a:blip r:embed="rId2"/>
          <a:stretch>
            <a:fillRect/>
          </a:stretch>
        </p:blipFill>
        <p:spPr>
          <a:xfrm>
            <a:off x="6466014" y="1366788"/>
            <a:ext cx="669775" cy="1253883"/>
          </a:xfrm>
          <a:prstGeom prst="rect">
            <a:avLst/>
          </a:prstGeom>
        </p:spPr>
      </p:pic>
      <p:pic>
        <p:nvPicPr>
          <p:cNvPr id="7" name="Picture 6">
            <a:extLst>
              <a:ext uri="{FF2B5EF4-FFF2-40B4-BE49-F238E27FC236}">
                <a16:creationId xmlns:a16="http://schemas.microsoft.com/office/drawing/2014/main" id="{06821A07-1D3F-C938-D199-F9B52DF9C430}"/>
              </a:ext>
            </a:extLst>
          </p:cNvPr>
          <p:cNvPicPr>
            <a:picLocks noChangeAspect="1"/>
          </p:cNvPicPr>
          <p:nvPr/>
        </p:nvPicPr>
        <p:blipFill>
          <a:blip r:embed="rId3"/>
          <a:stretch>
            <a:fillRect/>
          </a:stretch>
        </p:blipFill>
        <p:spPr>
          <a:xfrm>
            <a:off x="7370464" y="1190019"/>
            <a:ext cx="1766177" cy="1607420"/>
          </a:xfrm>
          <a:prstGeom prst="rect">
            <a:avLst/>
          </a:prstGeom>
        </p:spPr>
      </p:pic>
      <p:pic>
        <p:nvPicPr>
          <p:cNvPr id="9" name="Picture 8">
            <a:extLst>
              <a:ext uri="{FF2B5EF4-FFF2-40B4-BE49-F238E27FC236}">
                <a16:creationId xmlns:a16="http://schemas.microsoft.com/office/drawing/2014/main" id="{91954C19-C8F6-9CD7-0968-737DC070D5A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347921" y="2861591"/>
            <a:ext cx="1436322" cy="1198971"/>
          </a:xfrm>
          <a:prstGeom prst="rect">
            <a:avLst/>
          </a:prstGeom>
        </p:spPr>
      </p:pic>
      <p:pic>
        <p:nvPicPr>
          <p:cNvPr id="11" name="Picture 10">
            <a:extLst>
              <a:ext uri="{FF2B5EF4-FFF2-40B4-BE49-F238E27FC236}">
                <a16:creationId xmlns:a16="http://schemas.microsoft.com/office/drawing/2014/main" id="{7B8C3F73-71C6-B610-8861-CEF1780CDFCC}"/>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404588" y="2784965"/>
            <a:ext cx="1648083" cy="1328938"/>
          </a:xfrm>
          <a:prstGeom prst="rect">
            <a:avLst/>
          </a:prstGeom>
        </p:spPr>
      </p:pic>
      <p:pic>
        <p:nvPicPr>
          <p:cNvPr id="13" name="Picture 12">
            <a:extLst>
              <a:ext uri="{FF2B5EF4-FFF2-40B4-BE49-F238E27FC236}">
                <a16:creationId xmlns:a16="http://schemas.microsoft.com/office/drawing/2014/main" id="{DAB9FF6F-7179-17FE-9827-87F43A956E15}"/>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6447247" y="4060562"/>
            <a:ext cx="1377083" cy="1360976"/>
          </a:xfrm>
          <a:prstGeom prst="rect">
            <a:avLst/>
          </a:prstGeom>
        </p:spPr>
      </p:pic>
      <p:pic>
        <p:nvPicPr>
          <p:cNvPr id="15" name="Picture 14">
            <a:extLst>
              <a:ext uri="{FF2B5EF4-FFF2-40B4-BE49-F238E27FC236}">
                <a16:creationId xmlns:a16="http://schemas.microsoft.com/office/drawing/2014/main" id="{FCF65A08-F688-4162-27E4-0A094158E06F}"/>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6464199" y="5357460"/>
            <a:ext cx="3300521" cy="1499991"/>
          </a:xfrm>
          <a:prstGeom prst="rect">
            <a:avLst/>
          </a:prstGeom>
        </p:spPr>
      </p:pic>
    </p:spTree>
    <p:extLst>
      <p:ext uri="{BB962C8B-B14F-4D97-AF65-F5344CB8AC3E}">
        <p14:creationId xmlns:p14="http://schemas.microsoft.com/office/powerpoint/2010/main" val="3832785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A9EF4-6BF5-3719-F4D5-08CD957B9ED8}"/>
              </a:ext>
            </a:extLst>
          </p:cNvPr>
          <p:cNvSpPr>
            <a:spLocks noGrp="1"/>
          </p:cNvSpPr>
          <p:nvPr>
            <p:ph type="title"/>
          </p:nvPr>
        </p:nvSpPr>
        <p:spPr/>
        <p:txBody>
          <a:bodyPr/>
          <a:lstStyle/>
          <a:p>
            <a:r>
              <a:rPr lang="en-GB" dirty="0"/>
              <a:t>Designing the tunnel:</a:t>
            </a:r>
          </a:p>
        </p:txBody>
      </p:sp>
      <p:sp>
        <p:nvSpPr>
          <p:cNvPr id="3" name="Content Placeholder 2">
            <a:extLst>
              <a:ext uri="{FF2B5EF4-FFF2-40B4-BE49-F238E27FC236}">
                <a16:creationId xmlns:a16="http://schemas.microsoft.com/office/drawing/2014/main" id="{D56DE8A1-41C4-86F3-F089-08321DD31110}"/>
              </a:ext>
            </a:extLst>
          </p:cNvPr>
          <p:cNvSpPr>
            <a:spLocks noGrp="1"/>
          </p:cNvSpPr>
          <p:nvPr>
            <p:ph idx="1"/>
          </p:nvPr>
        </p:nvSpPr>
        <p:spPr>
          <a:xfrm>
            <a:off x="838199" y="1825625"/>
            <a:ext cx="5495223" cy="4351338"/>
          </a:xfrm>
        </p:spPr>
        <p:txBody>
          <a:bodyPr>
            <a:normAutofit fontScale="92500" lnSpcReduction="20000"/>
          </a:bodyPr>
          <a:lstStyle/>
          <a:p>
            <a:r>
              <a:rPr lang="en-GB" dirty="0"/>
              <a:t>Then I designed the supports to help lift the tunnel up so that it is inline with the fan.</a:t>
            </a:r>
          </a:p>
          <a:p>
            <a:r>
              <a:rPr lang="en-GB" dirty="0"/>
              <a:t>Then I made the compartment to hold the misters. I also created an insert to hold the misters to ensure that the water doesn’t leak.</a:t>
            </a:r>
          </a:p>
          <a:p>
            <a:r>
              <a:rPr lang="en-GB" dirty="0"/>
              <a:t>Then I made the stand that would house all the electronics and had screw holes for the load cells (M4 and M5 screws)</a:t>
            </a:r>
          </a:p>
          <a:p>
            <a:r>
              <a:rPr lang="en-GB" dirty="0"/>
              <a:t>Finally, I made the stand that would support the model</a:t>
            </a:r>
          </a:p>
          <a:p>
            <a:pPr marL="0" indent="0">
              <a:buNone/>
            </a:pPr>
            <a:endParaRPr lang="en-GB" dirty="0"/>
          </a:p>
        </p:txBody>
      </p:sp>
      <p:pic>
        <p:nvPicPr>
          <p:cNvPr id="5" name="Picture 4">
            <a:extLst>
              <a:ext uri="{FF2B5EF4-FFF2-40B4-BE49-F238E27FC236}">
                <a16:creationId xmlns:a16="http://schemas.microsoft.com/office/drawing/2014/main" id="{2500DA02-9560-AA9B-5216-D4DCDCC72FD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966277" y="1065177"/>
            <a:ext cx="567839" cy="1520895"/>
          </a:xfrm>
          <a:prstGeom prst="rect">
            <a:avLst/>
          </a:prstGeom>
        </p:spPr>
      </p:pic>
      <p:pic>
        <p:nvPicPr>
          <p:cNvPr id="7" name="Picture 6">
            <a:extLst>
              <a:ext uri="{FF2B5EF4-FFF2-40B4-BE49-F238E27FC236}">
                <a16:creationId xmlns:a16="http://schemas.microsoft.com/office/drawing/2014/main" id="{DF9304C9-443E-27CD-C1CF-79EA0910618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250196" y="2721009"/>
            <a:ext cx="1180507" cy="1405237"/>
          </a:xfrm>
          <a:prstGeom prst="rect">
            <a:avLst/>
          </a:prstGeom>
        </p:spPr>
      </p:pic>
      <p:pic>
        <p:nvPicPr>
          <p:cNvPr id="9" name="Picture 8">
            <a:extLst>
              <a:ext uri="{FF2B5EF4-FFF2-40B4-BE49-F238E27FC236}">
                <a16:creationId xmlns:a16="http://schemas.microsoft.com/office/drawing/2014/main" id="{409988C3-931E-8187-2839-6F2DA8FBE3F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98670" y="2779535"/>
            <a:ext cx="1487578" cy="1429808"/>
          </a:xfrm>
          <a:prstGeom prst="rect">
            <a:avLst/>
          </a:prstGeom>
        </p:spPr>
      </p:pic>
      <p:pic>
        <p:nvPicPr>
          <p:cNvPr id="11" name="Picture 10">
            <a:extLst>
              <a:ext uri="{FF2B5EF4-FFF2-40B4-BE49-F238E27FC236}">
                <a16:creationId xmlns:a16="http://schemas.microsoft.com/office/drawing/2014/main" id="{A1650ADA-5BFC-235E-99E4-62581407E06F}"/>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6096001" y="4101676"/>
            <a:ext cx="1502670" cy="1184308"/>
          </a:xfrm>
          <a:prstGeom prst="rect">
            <a:avLst/>
          </a:prstGeom>
        </p:spPr>
      </p:pic>
      <p:pic>
        <p:nvPicPr>
          <p:cNvPr id="13" name="Picture 12">
            <a:extLst>
              <a:ext uri="{FF2B5EF4-FFF2-40B4-BE49-F238E27FC236}">
                <a16:creationId xmlns:a16="http://schemas.microsoft.com/office/drawing/2014/main" id="{3C68EA93-E2D2-126E-EAEC-0B0E6A3BE007}"/>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6280164" y="5448387"/>
            <a:ext cx="1371764" cy="991637"/>
          </a:xfrm>
          <a:prstGeom prst="rect">
            <a:avLst/>
          </a:prstGeom>
        </p:spPr>
      </p:pic>
      <p:pic>
        <p:nvPicPr>
          <p:cNvPr id="15" name="Picture 14">
            <a:extLst>
              <a:ext uri="{FF2B5EF4-FFF2-40B4-BE49-F238E27FC236}">
                <a16:creationId xmlns:a16="http://schemas.microsoft.com/office/drawing/2014/main" id="{55330C50-279E-EAA5-5587-87F2EEDEFE95}"/>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7783925" y="5310921"/>
            <a:ext cx="1129068" cy="1256702"/>
          </a:xfrm>
          <a:prstGeom prst="rect">
            <a:avLst/>
          </a:prstGeom>
        </p:spPr>
      </p:pic>
      <p:pic>
        <p:nvPicPr>
          <p:cNvPr id="17" name="Picture 16">
            <a:extLst>
              <a:ext uri="{FF2B5EF4-FFF2-40B4-BE49-F238E27FC236}">
                <a16:creationId xmlns:a16="http://schemas.microsoft.com/office/drawing/2014/main" id="{F9947ADB-2CEB-8577-0FFD-5FF83727FEFB}"/>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9086248" y="5285984"/>
            <a:ext cx="1185241" cy="1549658"/>
          </a:xfrm>
          <a:prstGeom prst="rect">
            <a:avLst/>
          </a:prstGeom>
        </p:spPr>
      </p:pic>
    </p:spTree>
    <p:extLst>
      <p:ext uri="{BB962C8B-B14F-4D97-AF65-F5344CB8AC3E}">
        <p14:creationId xmlns:p14="http://schemas.microsoft.com/office/powerpoint/2010/main" val="1671068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35293-0F86-48B7-78DE-EFE348CEED6D}"/>
              </a:ext>
            </a:extLst>
          </p:cNvPr>
          <p:cNvSpPr>
            <a:spLocks noGrp="1"/>
          </p:cNvSpPr>
          <p:nvPr>
            <p:ph type="title"/>
          </p:nvPr>
        </p:nvSpPr>
        <p:spPr/>
        <p:txBody>
          <a:bodyPr/>
          <a:lstStyle/>
          <a:p>
            <a:r>
              <a:rPr lang="en-GB" dirty="0"/>
              <a:t>Designing the tunnel:</a:t>
            </a:r>
          </a:p>
        </p:txBody>
      </p:sp>
      <p:sp>
        <p:nvSpPr>
          <p:cNvPr id="3" name="Content Placeholder 2">
            <a:extLst>
              <a:ext uri="{FF2B5EF4-FFF2-40B4-BE49-F238E27FC236}">
                <a16:creationId xmlns:a16="http://schemas.microsoft.com/office/drawing/2014/main" id="{D9110B81-84C0-78DD-94FF-67B35D66CC27}"/>
              </a:ext>
            </a:extLst>
          </p:cNvPr>
          <p:cNvSpPr>
            <a:spLocks noGrp="1"/>
          </p:cNvSpPr>
          <p:nvPr>
            <p:ph idx="1"/>
          </p:nvPr>
        </p:nvSpPr>
        <p:spPr>
          <a:xfrm>
            <a:off x="838200" y="1825625"/>
            <a:ext cx="5148714" cy="4351338"/>
          </a:xfrm>
        </p:spPr>
        <p:txBody>
          <a:bodyPr>
            <a:normAutofit lnSpcReduction="10000"/>
          </a:bodyPr>
          <a:lstStyle/>
          <a:p>
            <a:r>
              <a:rPr lang="en-GB" dirty="0"/>
              <a:t>I then split up everything that was too big to print as one (the main frame, window, and electronics stand), into smaller pieces, including small joints to help alignment and strength when glueing them together</a:t>
            </a:r>
          </a:p>
          <a:p>
            <a:r>
              <a:rPr lang="en-GB" dirty="0"/>
              <a:t>I then put everything together in a SolidWorks assembly to ensure that everything fit together well</a:t>
            </a:r>
          </a:p>
        </p:txBody>
      </p:sp>
      <p:pic>
        <p:nvPicPr>
          <p:cNvPr id="5" name="Picture 4">
            <a:extLst>
              <a:ext uri="{FF2B5EF4-FFF2-40B4-BE49-F238E27FC236}">
                <a16:creationId xmlns:a16="http://schemas.microsoft.com/office/drawing/2014/main" id="{5EB8EFDB-0AB7-CB01-4743-78F19F5BDD0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205088" y="612842"/>
            <a:ext cx="2293840" cy="1727082"/>
          </a:xfrm>
          <a:prstGeom prst="rect">
            <a:avLst/>
          </a:prstGeom>
        </p:spPr>
      </p:pic>
      <p:pic>
        <p:nvPicPr>
          <p:cNvPr id="7" name="Picture 6">
            <a:extLst>
              <a:ext uri="{FF2B5EF4-FFF2-40B4-BE49-F238E27FC236}">
                <a16:creationId xmlns:a16="http://schemas.microsoft.com/office/drawing/2014/main" id="{BF867BE2-BEA4-0EDB-34EF-E12750F6A1C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046719" y="1825625"/>
            <a:ext cx="3717814" cy="1695201"/>
          </a:xfrm>
          <a:prstGeom prst="rect">
            <a:avLst/>
          </a:prstGeom>
        </p:spPr>
      </p:pic>
      <p:pic>
        <p:nvPicPr>
          <p:cNvPr id="9" name="Picture 8">
            <a:extLst>
              <a:ext uri="{FF2B5EF4-FFF2-40B4-BE49-F238E27FC236}">
                <a16:creationId xmlns:a16="http://schemas.microsoft.com/office/drawing/2014/main" id="{B35AC73D-6C3C-3DCE-125B-72C5C87CF951}"/>
              </a:ext>
            </a:extLst>
          </p:cNvPr>
          <p:cNvPicPr>
            <a:picLocks noChangeAspect="1"/>
          </p:cNvPicPr>
          <p:nvPr/>
        </p:nvPicPr>
        <p:blipFill>
          <a:blip r:embed="rId4"/>
          <a:stretch>
            <a:fillRect/>
          </a:stretch>
        </p:blipFill>
        <p:spPr>
          <a:xfrm>
            <a:off x="5900525" y="3209930"/>
            <a:ext cx="3185724" cy="1308147"/>
          </a:xfrm>
          <a:prstGeom prst="rect">
            <a:avLst/>
          </a:prstGeom>
        </p:spPr>
      </p:pic>
      <p:pic>
        <p:nvPicPr>
          <p:cNvPr id="11" name="Picture 10">
            <a:extLst>
              <a:ext uri="{FF2B5EF4-FFF2-40B4-BE49-F238E27FC236}">
                <a16:creationId xmlns:a16="http://schemas.microsoft.com/office/drawing/2014/main" id="{59B1A4B1-08E5-1484-8C83-A8E55BD568D6}"/>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611529" y="4577463"/>
            <a:ext cx="2958925" cy="1734437"/>
          </a:xfrm>
          <a:prstGeom prst="rect">
            <a:avLst/>
          </a:prstGeom>
        </p:spPr>
      </p:pic>
      <p:pic>
        <p:nvPicPr>
          <p:cNvPr id="13" name="Picture 12">
            <a:extLst>
              <a:ext uri="{FF2B5EF4-FFF2-40B4-BE49-F238E27FC236}">
                <a16:creationId xmlns:a16="http://schemas.microsoft.com/office/drawing/2014/main" id="{1DFEC888-2335-E319-205A-032D78D30E97}"/>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8684488" y="4516072"/>
            <a:ext cx="2779200" cy="2124414"/>
          </a:xfrm>
          <a:prstGeom prst="rect">
            <a:avLst/>
          </a:prstGeom>
        </p:spPr>
      </p:pic>
    </p:spTree>
    <p:extLst>
      <p:ext uri="{BB962C8B-B14F-4D97-AF65-F5344CB8AC3E}">
        <p14:creationId xmlns:p14="http://schemas.microsoft.com/office/powerpoint/2010/main" val="2542887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CC7B8-9F0C-7310-E43D-E331F671E595}"/>
              </a:ext>
            </a:extLst>
          </p:cNvPr>
          <p:cNvSpPr>
            <a:spLocks noGrp="1"/>
          </p:cNvSpPr>
          <p:nvPr>
            <p:ph type="title"/>
          </p:nvPr>
        </p:nvSpPr>
        <p:spPr/>
        <p:txBody>
          <a:bodyPr/>
          <a:lstStyle/>
          <a:p>
            <a:r>
              <a:rPr lang="en-GB" dirty="0"/>
              <a:t>Building The Tunnel:</a:t>
            </a:r>
          </a:p>
        </p:txBody>
      </p:sp>
      <p:sp>
        <p:nvSpPr>
          <p:cNvPr id="3" name="Content Placeholder 2">
            <a:extLst>
              <a:ext uri="{FF2B5EF4-FFF2-40B4-BE49-F238E27FC236}">
                <a16:creationId xmlns:a16="http://schemas.microsoft.com/office/drawing/2014/main" id="{C19A9B97-8F1C-2AAD-8840-7B27AFBDAC8B}"/>
              </a:ext>
            </a:extLst>
          </p:cNvPr>
          <p:cNvSpPr>
            <a:spLocks noGrp="1"/>
          </p:cNvSpPr>
          <p:nvPr>
            <p:ph idx="1"/>
          </p:nvPr>
        </p:nvSpPr>
        <p:spPr>
          <a:xfrm>
            <a:off x="215766" y="1816000"/>
            <a:ext cx="5880234" cy="4351338"/>
          </a:xfrm>
        </p:spPr>
        <p:txBody>
          <a:bodyPr>
            <a:normAutofit lnSpcReduction="10000"/>
          </a:bodyPr>
          <a:lstStyle/>
          <a:p>
            <a:r>
              <a:rPr lang="en-GB" dirty="0"/>
              <a:t>I first printed out the main frame and the honeycomb air straighteners, and I glued the honeycombs into the parts of the main frame.</a:t>
            </a:r>
          </a:p>
          <a:p>
            <a:r>
              <a:rPr lang="en-GB" dirty="0"/>
              <a:t>I then glued the entire frame together and added on the anemometer stand.</a:t>
            </a:r>
          </a:p>
          <a:p>
            <a:r>
              <a:rPr lang="en-GB" dirty="0"/>
              <a:t>I then glued the diffuser on the end</a:t>
            </a:r>
          </a:p>
          <a:p>
            <a:r>
              <a:rPr lang="en-GB" dirty="0"/>
              <a:t>I then glued the first 2 supports onto the stand</a:t>
            </a:r>
          </a:p>
        </p:txBody>
      </p:sp>
      <p:pic>
        <p:nvPicPr>
          <p:cNvPr id="6" name="Picture 5">
            <a:extLst>
              <a:ext uri="{FF2B5EF4-FFF2-40B4-BE49-F238E27FC236}">
                <a16:creationId xmlns:a16="http://schemas.microsoft.com/office/drawing/2014/main" id="{99002AAF-8981-300C-C7E0-9236CCCC431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96000" y="365125"/>
            <a:ext cx="1503066" cy="2009321"/>
          </a:xfrm>
          <a:prstGeom prst="rect">
            <a:avLst/>
          </a:prstGeom>
        </p:spPr>
      </p:pic>
      <p:pic>
        <p:nvPicPr>
          <p:cNvPr id="9" name="Picture 8">
            <a:extLst>
              <a:ext uri="{FF2B5EF4-FFF2-40B4-BE49-F238E27FC236}">
                <a16:creationId xmlns:a16="http://schemas.microsoft.com/office/drawing/2014/main" id="{264FB791-570D-A6BA-858B-8760615749E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16200000">
            <a:off x="8733052" y="-769605"/>
            <a:ext cx="1677557" cy="3563938"/>
          </a:xfrm>
          <a:prstGeom prst="rect">
            <a:avLst/>
          </a:prstGeom>
        </p:spPr>
      </p:pic>
      <p:pic>
        <p:nvPicPr>
          <p:cNvPr id="12" name="Picture 11">
            <a:extLst>
              <a:ext uri="{FF2B5EF4-FFF2-40B4-BE49-F238E27FC236}">
                <a16:creationId xmlns:a16="http://schemas.microsoft.com/office/drawing/2014/main" id="{6DE93B8C-3E77-1107-8EDC-5E47AF6265DF}"/>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rot="16200000">
            <a:off x="9052059" y="697887"/>
            <a:ext cx="1195257" cy="3563939"/>
          </a:xfrm>
          <a:prstGeom prst="rect">
            <a:avLst/>
          </a:prstGeom>
        </p:spPr>
      </p:pic>
      <p:pic>
        <p:nvPicPr>
          <p:cNvPr id="15" name="Picture 14">
            <a:extLst>
              <a:ext uri="{FF2B5EF4-FFF2-40B4-BE49-F238E27FC236}">
                <a16:creationId xmlns:a16="http://schemas.microsoft.com/office/drawing/2014/main" id="{2201422F-1371-2DD5-8367-DDD6FBDCAFA4}"/>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rot="16200000">
            <a:off x="6565107" y="1869894"/>
            <a:ext cx="1276269" cy="4051434"/>
          </a:xfrm>
          <a:prstGeom prst="rect">
            <a:avLst/>
          </a:prstGeom>
        </p:spPr>
      </p:pic>
      <p:pic>
        <p:nvPicPr>
          <p:cNvPr id="18" name="Picture 17">
            <a:extLst>
              <a:ext uri="{FF2B5EF4-FFF2-40B4-BE49-F238E27FC236}">
                <a16:creationId xmlns:a16="http://schemas.microsoft.com/office/drawing/2014/main" id="{311346B9-6275-DFA5-D21C-A6B2BF894215}"/>
              </a:ext>
            </a:extLst>
          </p:cNvPr>
          <p:cNvPicPr>
            <a:picLocks noChangeAspect="1"/>
          </p:cNvPicPr>
          <p:nvPr/>
        </p:nvPicPr>
        <p:blipFill>
          <a:blip r:embed="rId6" cstate="print">
            <a:extLst>
              <a:ext uri="{28A0092B-C50C-407E-A947-70E740481C1C}">
                <a14:useLocalDpi xmlns:a14="http://schemas.microsoft.com/office/drawing/2010/main"/>
              </a:ext>
            </a:extLst>
          </a:blip>
          <a:srcRect/>
          <a:stretch>
            <a:fillRect/>
          </a:stretch>
        </p:blipFill>
        <p:spPr>
          <a:xfrm rot="16200000">
            <a:off x="6087748" y="4459585"/>
            <a:ext cx="1041333" cy="1189654"/>
          </a:xfrm>
          <a:prstGeom prst="rect">
            <a:avLst/>
          </a:prstGeom>
        </p:spPr>
      </p:pic>
      <p:pic>
        <p:nvPicPr>
          <p:cNvPr id="21" name="Picture 20">
            <a:extLst>
              <a:ext uri="{FF2B5EF4-FFF2-40B4-BE49-F238E27FC236}">
                <a16:creationId xmlns:a16="http://schemas.microsoft.com/office/drawing/2014/main" id="{653DD64B-2283-CA0A-8D6C-F8716376D77B}"/>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5249311" y="5575079"/>
            <a:ext cx="1155032" cy="1297956"/>
          </a:xfrm>
          <a:prstGeom prst="rect">
            <a:avLst/>
          </a:prstGeom>
        </p:spPr>
      </p:pic>
    </p:spTree>
    <p:extLst>
      <p:ext uri="{BB962C8B-B14F-4D97-AF65-F5344CB8AC3E}">
        <p14:creationId xmlns:p14="http://schemas.microsoft.com/office/powerpoint/2010/main" val="38059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1CD60-45E7-7D8C-AEA5-E0D4F335516D}"/>
              </a:ext>
            </a:extLst>
          </p:cNvPr>
          <p:cNvSpPr>
            <a:spLocks noGrp="1"/>
          </p:cNvSpPr>
          <p:nvPr>
            <p:ph type="title"/>
          </p:nvPr>
        </p:nvSpPr>
        <p:spPr/>
        <p:txBody>
          <a:bodyPr/>
          <a:lstStyle/>
          <a:p>
            <a:r>
              <a:rPr lang="en-GB" dirty="0"/>
              <a:t>Building the tunnel</a:t>
            </a:r>
          </a:p>
        </p:txBody>
      </p:sp>
      <p:sp>
        <p:nvSpPr>
          <p:cNvPr id="3" name="Content Placeholder 2">
            <a:extLst>
              <a:ext uri="{FF2B5EF4-FFF2-40B4-BE49-F238E27FC236}">
                <a16:creationId xmlns:a16="http://schemas.microsoft.com/office/drawing/2014/main" id="{88A70066-CADC-D2BF-070B-495CE280EDB9}"/>
              </a:ext>
            </a:extLst>
          </p:cNvPr>
          <p:cNvSpPr>
            <a:spLocks noGrp="1"/>
          </p:cNvSpPr>
          <p:nvPr>
            <p:ph idx="1"/>
          </p:nvPr>
        </p:nvSpPr>
        <p:spPr>
          <a:xfrm>
            <a:off x="838199" y="1825625"/>
            <a:ext cx="3984057" cy="4351338"/>
          </a:xfrm>
        </p:spPr>
        <p:txBody>
          <a:bodyPr>
            <a:normAutofit fontScale="77500" lnSpcReduction="20000"/>
          </a:bodyPr>
          <a:lstStyle/>
          <a:p>
            <a:r>
              <a:rPr lang="en-GB" dirty="0"/>
              <a:t>As the loadcell had bare wires to connect them, and I don’t have soldering equipment, I crimped the wires into male DuPont connecters, so that I could easily insert them into a breadboard</a:t>
            </a:r>
          </a:p>
          <a:p>
            <a:r>
              <a:rPr lang="en-GB" dirty="0"/>
              <a:t>I then screwed the load cells into the electronic stand</a:t>
            </a:r>
          </a:p>
          <a:p>
            <a:r>
              <a:rPr lang="en-GB" dirty="0"/>
              <a:t>I then glued each side of the electronic stand, into their corresponding supports</a:t>
            </a:r>
          </a:p>
          <a:p>
            <a:r>
              <a:rPr lang="en-GB" dirty="0"/>
              <a:t>I then glued the supports (including the electronics stand) into the main frame</a:t>
            </a:r>
          </a:p>
        </p:txBody>
      </p:sp>
      <p:pic>
        <p:nvPicPr>
          <p:cNvPr id="6" name="Picture 5">
            <a:extLst>
              <a:ext uri="{FF2B5EF4-FFF2-40B4-BE49-F238E27FC236}">
                <a16:creationId xmlns:a16="http://schemas.microsoft.com/office/drawing/2014/main" id="{04A0CF5B-44A0-7219-797C-8CF1C9E6F450}"/>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rot="16200000">
            <a:off x="5213687" y="978419"/>
            <a:ext cx="1848051" cy="2464068"/>
          </a:xfrm>
          <a:prstGeom prst="rect">
            <a:avLst/>
          </a:prstGeom>
        </p:spPr>
      </p:pic>
      <p:pic>
        <p:nvPicPr>
          <p:cNvPr id="9" name="Picture 8">
            <a:extLst>
              <a:ext uri="{FF2B5EF4-FFF2-40B4-BE49-F238E27FC236}">
                <a16:creationId xmlns:a16="http://schemas.microsoft.com/office/drawing/2014/main" id="{38D75663-C0C3-2AF9-FDD5-E17FA9ACC30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16200000">
            <a:off x="7887804" y="681541"/>
            <a:ext cx="2102518" cy="2803357"/>
          </a:xfrm>
          <a:prstGeom prst="rect">
            <a:avLst/>
          </a:prstGeom>
        </p:spPr>
      </p:pic>
      <p:pic>
        <p:nvPicPr>
          <p:cNvPr id="12" name="Picture 11">
            <a:extLst>
              <a:ext uri="{FF2B5EF4-FFF2-40B4-BE49-F238E27FC236}">
                <a16:creationId xmlns:a16="http://schemas.microsoft.com/office/drawing/2014/main" id="{90F0F956-EC63-2995-BB5E-FDD9747D7AB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822256" y="3158992"/>
            <a:ext cx="1273744" cy="1698325"/>
          </a:xfrm>
          <a:prstGeom prst="rect">
            <a:avLst/>
          </a:prstGeom>
        </p:spPr>
      </p:pic>
      <p:pic>
        <p:nvPicPr>
          <p:cNvPr id="15" name="Picture 14">
            <a:extLst>
              <a:ext uri="{FF2B5EF4-FFF2-40B4-BE49-F238E27FC236}">
                <a16:creationId xmlns:a16="http://schemas.microsoft.com/office/drawing/2014/main" id="{3F65C8CC-10FD-9DCD-7DA9-164E7EF1839B}"/>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6339038" y="3656545"/>
            <a:ext cx="1454962" cy="1698325"/>
          </a:xfrm>
          <a:prstGeom prst="rect">
            <a:avLst/>
          </a:prstGeom>
        </p:spPr>
      </p:pic>
      <p:pic>
        <p:nvPicPr>
          <p:cNvPr id="18" name="Picture 17">
            <a:extLst>
              <a:ext uri="{FF2B5EF4-FFF2-40B4-BE49-F238E27FC236}">
                <a16:creationId xmlns:a16="http://schemas.microsoft.com/office/drawing/2014/main" id="{5CB91A54-AF60-6113-7419-0DC66E777260}"/>
              </a:ext>
            </a:extLst>
          </p:cNvPr>
          <p:cNvPicPr>
            <a:picLocks noChangeAspect="1"/>
          </p:cNvPicPr>
          <p:nvPr/>
        </p:nvPicPr>
        <p:blipFill>
          <a:blip r:embed="rId6" cstate="print">
            <a:extLst>
              <a:ext uri="{28A0092B-C50C-407E-A947-70E740481C1C}">
                <a14:useLocalDpi xmlns:a14="http://schemas.microsoft.com/office/drawing/2010/main"/>
              </a:ext>
            </a:extLst>
          </a:blip>
          <a:srcRect/>
          <a:stretch>
            <a:fillRect/>
          </a:stretch>
        </p:blipFill>
        <p:spPr>
          <a:xfrm>
            <a:off x="8037038" y="3590693"/>
            <a:ext cx="2175366" cy="1830028"/>
          </a:xfrm>
          <a:prstGeom prst="rect">
            <a:avLst/>
          </a:prstGeom>
        </p:spPr>
      </p:pic>
      <p:pic>
        <p:nvPicPr>
          <p:cNvPr id="21" name="Picture 20">
            <a:extLst>
              <a:ext uri="{FF2B5EF4-FFF2-40B4-BE49-F238E27FC236}">
                <a16:creationId xmlns:a16="http://schemas.microsoft.com/office/drawing/2014/main" id="{9B7E30F2-19A2-67E3-504A-12F12F89A3D6}"/>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4569997" y="4956563"/>
            <a:ext cx="1778263" cy="1742466"/>
          </a:xfrm>
          <a:prstGeom prst="rect">
            <a:avLst/>
          </a:prstGeom>
        </p:spPr>
      </p:pic>
    </p:spTree>
    <p:extLst>
      <p:ext uri="{BB962C8B-B14F-4D97-AF65-F5344CB8AC3E}">
        <p14:creationId xmlns:p14="http://schemas.microsoft.com/office/powerpoint/2010/main" val="3706046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54087-31EA-B046-460D-B87A4BA4188C}"/>
              </a:ext>
            </a:extLst>
          </p:cNvPr>
          <p:cNvSpPr>
            <a:spLocks noGrp="1"/>
          </p:cNvSpPr>
          <p:nvPr>
            <p:ph type="title"/>
          </p:nvPr>
        </p:nvSpPr>
        <p:spPr/>
        <p:txBody>
          <a:bodyPr/>
          <a:lstStyle/>
          <a:p>
            <a:r>
              <a:rPr lang="en-GB" dirty="0"/>
              <a:t>Building the tunnel</a:t>
            </a:r>
          </a:p>
        </p:txBody>
      </p:sp>
      <p:sp>
        <p:nvSpPr>
          <p:cNvPr id="3" name="Content Placeholder 2">
            <a:extLst>
              <a:ext uri="{FF2B5EF4-FFF2-40B4-BE49-F238E27FC236}">
                <a16:creationId xmlns:a16="http://schemas.microsoft.com/office/drawing/2014/main" id="{2F14474A-1BE1-9190-1932-8CE5F0D5F5B6}"/>
              </a:ext>
            </a:extLst>
          </p:cNvPr>
          <p:cNvSpPr>
            <a:spLocks noGrp="1"/>
          </p:cNvSpPr>
          <p:nvPr>
            <p:ph idx="1"/>
          </p:nvPr>
        </p:nvSpPr>
        <p:spPr>
          <a:xfrm>
            <a:off x="693821" y="1844875"/>
            <a:ext cx="5402179" cy="4351338"/>
          </a:xfrm>
        </p:spPr>
        <p:txBody>
          <a:bodyPr>
            <a:normAutofit lnSpcReduction="10000"/>
          </a:bodyPr>
          <a:lstStyle/>
          <a:p>
            <a:r>
              <a:rPr lang="en-GB" dirty="0"/>
              <a:t>I then glued the LED strip into the main frame</a:t>
            </a:r>
          </a:p>
          <a:p>
            <a:r>
              <a:rPr lang="en-GB" dirty="0"/>
              <a:t>I then printed the water mister container sideways, to ensure it was waterproof, and I inserted the water misters and inserted the compartment into the tunnel</a:t>
            </a:r>
          </a:p>
          <a:p>
            <a:r>
              <a:rPr lang="en-GB" dirty="0"/>
              <a:t>I then printed the window and glued in the Perspex</a:t>
            </a:r>
          </a:p>
          <a:p>
            <a:r>
              <a:rPr lang="en-GB" dirty="0"/>
              <a:t>I then printed and added in the model stand</a:t>
            </a:r>
          </a:p>
        </p:txBody>
      </p:sp>
      <p:pic>
        <p:nvPicPr>
          <p:cNvPr id="6" name="Picture 5">
            <a:extLst>
              <a:ext uri="{FF2B5EF4-FFF2-40B4-BE49-F238E27FC236}">
                <a16:creationId xmlns:a16="http://schemas.microsoft.com/office/drawing/2014/main" id="{E66F1493-EB57-39AB-1022-94C962011408}"/>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5861785" y="1179859"/>
            <a:ext cx="3195587" cy="1330031"/>
          </a:xfrm>
          <a:prstGeom prst="rect">
            <a:avLst/>
          </a:prstGeom>
        </p:spPr>
      </p:pic>
      <p:pic>
        <p:nvPicPr>
          <p:cNvPr id="9" name="Picture 8">
            <a:extLst>
              <a:ext uri="{FF2B5EF4-FFF2-40B4-BE49-F238E27FC236}">
                <a16:creationId xmlns:a16="http://schemas.microsoft.com/office/drawing/2014/main" id="{52E23F9E-1E14-234F-1AEE-53C6CC09E7C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218722" y="2659479"/>
            <a:ext cx="2251509" cy="1688632"/>
          </a:xfrm>
          <a:prstGeom prst="rect">
            <a:avLst/>
          </a:prstGeom>
        </p:spPr>
      </p:pic>
      <p:pic>
        <p:nvPicPr>
          <p:cNvPr id="12" name="Picture 11">
            <a:extLst>
              <a:ext uri="{FF2B5EF4-FFF2-40B4-BE49-F238E27FC236}">
                <a16:creationId xmlns:a16="http://schemas.microsoft.com/office/drawing/2014/main" id="{CD8F6907-6506-274F-2B98-9F4F057BCBB5}"/>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rot="16200000">
            <a:off x="6208716" y="4073473"/>
            <a:ext cx="1114123" cy="1807984"/>
          </a:xfrm>
          <a:prstGeom prst="rect">
            <a:avLst/>
          </a:prstGeom>
        </p:spPr>
      </p:pic>
      <p:pic>
        <p:nvPicPr>
          <p:cNvPr id="15" name="Picture 14">
            <a:extLst>
              <a:ext uri="{FF2B5EF4-FFF2-40B4-BE49-F238E27FC236}">
                <a16:creationId xmlns:a16="http://schemas.microsoft.com/office/drawing/2014/main" id="{1DBF8766-D89D-DE8F-9B0F-C270BCD6ED43}"/>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931617" y="5049004"/>
            <a:ext cx="2251509" cy="1688632"/>
          </a:xfrm>
          <a:prstGeom prst="rect">
            <a:avLst/>
          </a:prstGeom>
        </p:spPr>
      </p:pic>
    </p:spTree>
    <p:extLst>
      <p:ext uri="{BB962C8B-B14F-4D97-AF65-F5344CB8AC3E}">
        <p14:creationId xmlns:p14="http://schemas.microsoft.com/office/powerpoint/2010/main" val="2752999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5B7F0-0730-FDB2-7450-CCBEC8696E5E}"/>
              </a:ext>
            </a:extLst>
          </p:cNvPr>
          <p:cNvSpPr>
            <a:spLocks noGrp="1"/>
          </p:cNvSpPr>
          <p:nvPr>
            <p:ph type="title"/>
          </p:nvPr>
        </p:nvSpPr>
        <p:spPr/>
        <p:txBody>
          <a:bodyPr/>
          <a:lstStyle/>
          <a:p>
            <a:r>
              <a:rPr lang="en-GB" dirty="0"/>
              <a:t>Testing:</a:t>
            </a:r>
          </a:p>
        </p:txBody>
      </p:sp>
      <p:sp>
        <p:nvSpPr>
          <p:cNvPr id="3" name="Content Placeholder 2">
            <a:extLst>
              <a:ext uri="{FF2B5EF4-FFF2-40B4-BE49-F238E27FC236}">
                <a16:creationId xmlns:a16="http://schemas.microsoft.com/office/drawing/2014/main" id="{E36AE05F-12A5-A075-A384-712B3B8590A4}"/>
              </a:ext>
            </a:extLst>
          </p:cNvPr>
          <p:cNvSpPr>
            <a:spLocks noGrp="1"/>
          </p:cNvSpPr>
          <p:nvPr>
            <p:ph idx="1"/>
          </p:nvPr>
        </p:nvSpPr>
        <p:spPr>
          <a:xfrm>
            <a:off x="838201" y="1825625"/>
            <a:ext cx="4523072" cy="4351338"/>
          </a:xfrm>
        </p:spPr>
        <p:txBody>
          <a:bodyPr>
            <a:normAutofit fontScale="92500" lnSpcReduction="20000"/>
          </a:bodyPr>
          <a:lstStyle/>
          <a:p>
            <a:r>
              <a:rPr lang="en-GB" dirty="0"/>
              <a:t>I tested it and managed to get speeds of around 5.7ms^-1</a:t>
            </a:r>
          </a:p>
          <a:p>
            <a:r>
              <a:rPr lang="en-GB" dirty="0"/>
              <a:t>Also, the smoke generation was quite poor and was unnoticeable at high speeds</a:t>
            </a:r>
          </a:p>
          <a:p>
            <a:r>
              <a:rPr lang="en-GB" dirty="0"/>
              <a:t>The window was very difficult to put on and take off repeatedly after tests</a:t>
            </a:r>
          </a:p>
          <a:p>
            <a:r>
              <a:rPr lang="en-GB" dirty="0"/>
              <a:t>There was some warping when printing the main frame so there were some slight gaps in the main frame</a:t>
            </a:r>
          </a:p>
        </p:txBody>
      </p:sp>
      <p:pic>
        <p:nvPicPr>
          <p:cNvPr id="6" name="Picture 5">
            <a:extLst>
              <a:ext uri="{FF2B5EF4-FFF2-40B4-BE49-F238E27FC236}">
                <a16:creationId xmlns:a16="http://schemas.microsoft.com/office/drawing/2014/main" id="{7C753B33-E890-CB2D-8907-0C90D543825E}"/>
              </a:ext>
            </a:extLst>
          </p:cNvPr>
          <p:cNvPicPr>
            <a:picLocks noChangeAspect="1"/>
          </p:cNvPicPr>
          <p:nvPr/>
        </p:nvPicPr>
        <p:blipFill>
          <a:blip r:embed="rId6" cstate="print">
            <a:extLst>
              <a:ext uri="{28A0092B-C50C-407E-A947-70E740481C1C}">
                <a14:useLocalDpi xmlns:a14="http://schemas.microsoft.com/office/drawing/2010/main"/>
              </a:ext>
            </a:extLst>
          </a:blip>
          <a:srcRect/>
          <a:stretch>
            <a:fillRect/>
          </a:stretch>
        </p:blipFill>
        <p:spPr>
          <a:xfrm>
            <a:off x="5160942" y="230188"/>
            <a:ext cx="2039152" cy="1268157"/>
          </a:xfrm>
          <a:prstGeom prst="rect">
            <a:avLst/>
          </a:prstGeom>
        </p:spPr>
      </p:pic>
      <p:pic>
        <p:nvPicPr>
          <p:cNvPr id="7" name="WhatsApp Video 2026-03-29 at 6.13.35 PM">
            <a:hlinkClick r:id="" action="ppaction://media"/>
            <a:extLst>
              <a:ext uri="{FF2B5EF4-FFF2-40B4-BE49-F238E27FC236}">
                <a16:creationId xmlns:a16="http://schemas.microsoft.com/office/drawing/2014/main" id="{C3D8C7B5-6DBD-77ED-2EDF-C737D73E13ED}"/>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8799419" y="1903060"/>
            <a:ext cx="3392581" cy="1892017"/>
          </a:xfrm>
          <a:prstGeom prst="rect">
            <a:avLst/>
          </a:prstGeom>
        </p:spPr>
      </p:pic>
      <p:pic>
        <p:nvPicPr>
          <p:cNvPr id="8" name="WhatsApp Video 2026-03-29 at 6.13.39 PM">
            <a:hlinkClick r:id="" action="ppaction://media"/>
            <a:extLst>
              <a:ext uri="{FF2B5EF4-FFF2-40B4-BE49-F238E27FC236}">
                <a16:creationId xmlns:a16="http://schemas.microsoft.com/office/drawing/2014/main" id="{14C472D8-ED55-04F6-D309-21870B9F0987}"/>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rot="16200000">
            <a:off x="6017472" y="1177594"/>
            <a:ext cx="1892016" cy="3342949"/>
          </a:xfrm>
          <a:prstGeom prst="rect">
            <a:avLst/>
          </a:prstGeom>
        </p:spPr>
      </p:pic>
      <p:pic>
        <p:nvPicPr>
          <p:cNvPr id="11" name="Picture 10">
            <a:extLst>
              <a:ext uri="{FF2B5EF4-FFF2-40B4-BE49-F238E27FC236}">
                <a16:creationId xmlns:a16="http://schemas.microsoft.com/office/drawing/2014/main" id="{78C475B0-C0C4-38C6-35CF-B46C57D6062B}"/>
              </a:ext>
            </a:extLst>
          </p:cNvPr>
          <p:cNvPicPr>
            <a:picLocks noChangeAspect="1"/>
          </p:cNvPicPr>
          <p:nvPr/>
        </p:nvPicPr>
        <p:blipFill>
          <a:blip r:embed="rId9" cstate="print">
            <a:extLst>
              <a:ext uri="{28A0092B-C50C-407E-A947-70E740481C1C}">
                <a14:useLocalDpi xmlns:a14="http://schemas.microsoft.com/office/drawing/2010/main"/>
              </a:ext>
            </a:extLst>
          </a:blip>
          <a:srcRect/>
          <a:stretch>
            <a:fillRect/>
          </a:stretch>
        </p:blipFill>
        <p:spPr>
          <a:xfrm>
            <a:off x="5367558" y="3887402"/>
            <a:ext cx="967254" cy="2826013"/>
          </a:xfrm>
          <a:prstGeom prst="rect">
            <a:avLst/>
          </a:prstGeom>
        </p:spPr>
      </p:pic>
      <p:pic>
        <p:nvPicPr>
          <p:cNvPr id="14" name="Picture 13">
            <a:extLst>
              <a:ext uri="{FF2B5EF4-FFF2-40B4-BE49-F238E27FC236}">
                <a16:creationId xmlns:a16="http://schemas.microsoft.com/office/drawing/2014/main" id="{445DAEEB-A967-5583-0985-5C799C028D09}"/>
              </a:ext>
            </a:extLst>
          </p:cNvPr>
          <p:cNvPicPr>
            <a:picLocks noChangeAspect="1"/>
          </p:cNvPicPr>
          <p:nvPr/>
        </p:nvPicPr>
        <p:blipFill>
          <a:blip r:embed="rId10" cstate="print">
            <a:extLst>
              <a:ext uri="{28A0092B-C50C-407E-A947-70E740481C1C}">
                <a14:useLocalDpi xmlns:a14="http://schemas.microsoft.com/office/drawing/2010/main"/>
              </a:ext>
            </a:extLst>
          </a:blip>
          <a:srcRect/>
          <a:stretch>
            <a:fillRect/>
          </a:stretch>
        </p:blipFill>
        <p:spPr>
          <a:xfrm>
            <a:off x="6585656" y="3872512"/>
            <a:ext cx="614438" cy="2970598"/>
          </a:xfrm>
          <a:prstGeom prst="rect">
            <a:avLst/>
          </a:prstGeom>
        </p:spPr>
      </p:pic>
      <p:pic>
        <p:nvPicPr>
          <p:cNvPr id="17" name="Picture 16">
            <a:extLst>
              <a:ext uri="{FF2B5EF4-FFF2-40B4-BE49-F238E27FC236}">
                <a16:creationId xmlns:a16="http://schemas.microsoft.com/office/drawing/2014/main" id="{CE8871B6-8DCF-0CF0-1688-9B66D63E09BE}"/>
              </a:ext>
            </a:extLst>
          </p:cNvPr>
          <p:cNvPicPr>
            <a:picLocks noChangeAspect="1"/>
          </p:cNvPicPr>
          <p:nvPr/>
        </p:nvPicPr>
        <p:blipFill>
          <a:blip r:embed="rId11" cstate="print">
            <a:extLst>
              <a:ext uri="{28A0092B-C50C-407E-A947-70E740481C1C}">
                <a14:useLocalDpi xmlns:a14="http://schemas.microsoft.com/office/drawing/2010/main"/>
              </a:ext>
            </a:extLst>
          </a:blip>
          <a:srcRect/>
          <a:stretch>
            <a:fillRect/>
          </a:stretch>
        </p:blipFill>
        <p:spPr>
          <a:xfrm>
            <a:off x="7450938" y="3875132"/>
            <a:ext cx="787575" cy="2850551"/>
          </a:xfrm>
          <a:prstGeom prst="rect">
            <a:avLst/>
          </a:prstGeom>
        </p:spPr>
      </p:pic>
      <p:pic>
        <p:nvPicPr>
          <p:cNvPr id="20" name="Picture 19">
            <a:extLst>
              <a:ext uri="{FF2B5EF4-FFF2-40B4-BE49-F238E27FC236}">
                <a16:creationId xmlns:a16="http://schemas.microsoft.com/office/drawing/2014/main" id="{B5985789-18C9-691E-DB5A-BECCD5AAD133}"/>
              </a:ext>
            </a:extLst>
          </p:cNvPr>
          <p:cNvPicPr>
            <a:picLocks noChangeAspect="1"/>
          </p:cNvPicPr>
          <p:nvPr/>
        </p:nvPicPr>
        <p:blipFill>
          <a:blip r:embed="rId12" cstate="print">
            <a:extLst>
              <a:ext uri="{28A0092B-C50C-407E-A947-70E740481C1C}">
                <a14:useLocalDpi xmlns:a14="http://schemas.microsoft.com/office/drawing/2010/main"/>
              </a:ext>
            </a:extLst>
          </a:blip>
          <a:srcRect/>
          <a:stretch>
            <a:fillRect/>
          </a:stretch>
        </p:blipFill>
        <p:spPr>
          <a:xfrm rot="21427520">
            <a:off x="8284378" y="4397465"/>
            <a:ext cx="3651981" cy="1920690"/>
          </a:xfrm>
          <a:prstGeom prst="rect">
            <a:avLst/>
          </a:prstGeom>
        </p:spPr>
      </p:pic>
    </p:spTree>
    <p:extLst>
      <p:ext uri="{BB962C8B-B14F-4D97-AF65-F5344CB8AC3E}">
        <p14:creationId xmlns:p14="http://schemas.microsoft.com/office/powerpoint/2010/main" val="23647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243"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54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1" fill="hold" display="0">
                  <p:stCondLst>
                    <p:cond delay="indefinite"/>
                  </p:stCondLst>
                </p:cTn>
                <p:tgtEl>
                  <p:spTgt spid="7"/>
                </p:tgtEl>
              </p:cMediaNode>
            </p:video>
            <p:seq concurrent="1" nextAc="seek">
              <p:cTn id="12" restart="whenNotActive" fill="hold" evtFilter="cancelBubble" nodeType="interactiveSeq">
                <p:stCondLst>
                  <p:cond evt="onClick" delay="0">
                    <p:tgtEl>
                      <p:spTgt spid="7"/>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7"/>
                                        </p:tgtEl>
                                      </p:cBhvr>
                                    </p:cmd>
                                  </p:childTnLst>
                                </p:cTn>
                              </p:par>
                            </p:childTnLst>
                          </p:cTn>
                        </p:par>
                      </p:childTnLst>
                    </p:cTn>
                  </p:par>
                </p:childTnLst>
              </p:cTn>
              <p:nextCondLst>
                <p:cond evt="onClick" delay="0">
                  <p:tgtEl>
                    <p:spTgt spid="7"/>
                  </p:tgtEl>
                </p:cond>
              </p:nextCondLst>
            </p:seq>
            <p:video>
              <p:cMediaNode vol="80000">
                <p:cTn id="17" fill="hold" display="0">
                  <p:stCondLst>
                    <p:cond delay="indefinite"/>
                  </p:stCondLst>
                </p:cTn>
                <p:tgtEl>
                  <p:spTgt spid="8"/>
                </p:tgtEl>
              </p:cMediaNode>
            </p:video>
            <p:seq concurrent="1" nextAc="seek">
              <p:cTn id="18" restart="whenNotActive" fill="hold" evtFilter="cancelBubble" nodeType="interactiveSeq">
                <p:stCondLst>
                  <p:cond evt="onClick" delay="0">
                    <p:tgtEl>
                      <p:spTgt spid="8"/>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1A26C-4393-EF06-1637-BF6811940E4F}"/>
              </a:ext>
            </a:extLst>
          </p:cNvPr>
          <p:cNvSpPr>
            <a:spLocks noGrp="1"/>
          </p:cNvSpPr>
          <p:nvPr>
            <p:ph type="title"/>
          </p:nvPr>
        </p:nvSpPr>
        <p:spPr/>
        <p:txBody>
          <a:bodyPr/>
          <a:lstStyle/>
          <a:p>
            <a:r>
              <a:rPr lang="en-GB" dirty="0"/>
              <a:t>Fixing The Window:</a:t>
            </a:r>
          </a:p>
        </p:txBody>
      </p:sp>
      <p:sp>
        <p:nvSpPr>
          <p:cNvPr id="3" name="Content Placeholder 2">
            <a:extLst>
              <a:ext uri="{FF2B5EF4-FFF2-40B4-BE49-F238E27FC236}">
                <a16:creationId xmlns:a16="http://schemas.microsoft.com/office/drawing/2014/main" id="{683B3D01-194E-889D-2C6E-3955E8CEDD44}"/>
              </a:ext>
            </a:extLst>
          </p:cNvPr>
          <p:cNvSpPr>
            <a:spLocks noGrp="1"/>
          </p:cNvSpPr>
          <p:nvPr>
            <p:ph idx="1"/>
          </p:nvPr>
        </p:nvSpPr>
        <p:spPr>
          <a:xfrm>
            <a:off x="838200" y="1825625"/>
            <a:ext cx="4544505" cy="4351338"/>
          </a:xfrm>
        </p:spPr>
        <p:txBody>
          <a:bodyPr/>
          <a:lstStyle/>
          <a:p>
            <a:r>
              <a:rPr lang="en-GB" dirty="0"/>
              <a:t>To fix the window, I decided to only slide in and out the Perspex pane instead of taking out the whole window, so I redesigned and reprinted the starting piece of the window to allow me to slide the window in, and it worked.</a:t>
            </a:r>
          </a:p>
        </p:txBody>
      </p:sp>
      <p:pic>
        <p:nvPicPr>
          <p:cNvPr id="6" name="Picture 5">
            <a:extLst>
              <a:ext uri="{FF2B5EF4-FFF2-40B4-BE49-F238E27FC236}">
                <a16:creationId xmlns:a16="http://schemas.microsoft.com/office/drawing/2014/main" id="{D4F00784-3C1D-2D1A-741C-A566D20559F3}"/>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5662367" y="516438"/>
            <a:ext cx="6143919" cy="2483437"/>
          </a:xfrm>
          <a:prstGeom prst="rect">
            <a:avLst/>
          </a:prstGeom>
        </p:spPr>
      </p:pic>
      <p:pic>
        <p:nvPicPr>
          <p:cNvPr id="9" name="Picture 8">
            <a:extLst>
              <a:ext uri="{FF2B5EF4-FFF2-40B4-BE49-F238E27FC236}">
                <a16:creationId xmlns:a16="http://schemas.microsoft.com/office/drawing/2014/main" id="{EB305A31-8F31-DBD8-A607-FE88DDB6C347}"/>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rot="16200000">
            <a:off x="7804961" y="2221360"/>
            <a:ext cx="2081316" cy="3638346"/>
          </a:xfrm>
          <a:prstGeom prst="rect">
            <a:avLst/>
          </a:prstGeom>
        </p:spPr>
      </p:pic>
      <p:pic>
        <p:nvPicPr>
          <p:cNvPr id="11" name="Picture 10">
            <a:extLst>
              <a:ext uri="{FF2B5EF4-FFF2-40B4-BE49-F238E27FC236}">
                <a16:creationId xmlns:a16="http://schemas.microsoft.com/office/drawing/2014/main" id="{AB0BE426-0456-A894-4BDA-279F6C56B85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006668" y="5347656"/>
            <a:ext cx="2607944" cy="1417033"/>
          </a:xfrm>
          <a:prstGeom prst="rect">
            <a:avLst/>
          </a:prstGeom>
        </p:spPr>
      </p:pic>
    </p:spTree>
    <p:extLst>
      <p:ext uri="{BB962C8B-B14F-4D97-AF65-F5344CB8AC3E}">
        <p14:creationId xmlns:p14="http://schemas.microsoft.com/office/powerpoint/2010/main" val="2159900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B2F03-7456-1A80-9513-D7E16B55422D}"/>
              </a:ext>
            </a:extLst>
          </p:cNvPr>
          <p:cNvSpPr>
            <a:spLocks noGrp="1"/>
          </p:cNvSpPr>
          <p:nvPr>
            <p:ph type="title"/>
          </p:nvPr>
        </p:nvSpPr>
        <p:spPr/>
        <p:txBody>
          <a:bodyPr/>
          <a:lstStyle/>
          <a:p>
            <a:r>
              <a:rPr lang="en-GB" dirty="0"/>
              <a:t>Next Steps:</a:t>
            </a:r>
          </a:p>
        </p:txBody>
      </p:sp>
      <p:sp>
        <p:nvSpPr>
          <p:cNvPr id="3" name="Content Placeholder 2">
            <a:extLst>
              <a:ext uri="{FF2B5EF4-FFF2-40B4-BE49-F238E27FC236}">
                <a16:creationId xmlns:a16="http://schemas.microsoft.com/office/drawing/2014/main" id="{0F34FBE9-0A3D-7459-6D2C-BDBEBA1B5942}"/>
              </a:ext>
            </a:extLst>
          </p:cNvPr>
          <p:cNvSpPr>
            <a:spLocks noGrp="1"/>
          </p:cNvSpPr>
          <p:nvPr>
            <p:ph idx="1"/>
          </p:nvPr>
        </p:nvSpPr>
        <p:spPr/>
        <p:txBody>
          <a:bodyPr/>
          <a:lstStyle/>
          <a:p>
            <a:r>
              <a:rPr lang="en-GB" dirty="0"/>
              <a:t>I will get duct tape and tape together the seams of the main frame of the wind tunnel</a:t>
            </a:r>
          </a:p>
          <a:p>
            <a:r>
              <a:rPr lang="en-GB" dirty="0"/>
              <a:t>I will use cardboard and duct tape to create a seal around the diffuser and fan to ensure all suction power is directed towards the tunnel</a:t>
            </a:r>
          </a:p>
          <a:p>
            <a:r>
              <a:rPr lang="en-GB" dirty="0"/>
              <a:t>I will investigate better ways of getting the smoke generation to be better and thicker</a:t>
            </a:r>
          </a:p>
          <a:p>
            <a:r>
              <a:rPr lang="en-GB" dirty="0"/>
              <a:t>I will wire, setup, and code the electronics of the tunnel.</a:t>
            </a:r>
          </a:p>
        </p:txBody>
      </p:sp>
    </p:spTree>
    <p:extLst>
      <p:ext uri="{BB962C8B-B14F-4D97-AF65-F5344CB8AC3E}">
        <p14:creationId xmlns:p14="http://schemas.microsoft.com/office/powerpoint/2010/main" val="19855833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c972280-2925-48d0-8820-ed89fde0201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2F172397BDC49498993A1DE19A3F976" ma:contentTypeVersion="15" ma:contentTypeDescription="Create a new document." ma:contentTypeScope="" ma:versionID="f3fb5ce33ec07cf28310f87698333982">
  <xsd:schema xmlns:xsd="http://www.w3.org/2001/XMLSchema" xmlns:xs="http://www.w3.org/2001/XMLSchema" xmlns:p="http://schemas.microsoft.com/office/2006/metadata/properties" xmlns:ns3="dc972280-2925-48d0-8820-ed89fde0201b" xmlns:ns4="a7dafac9-72b8-4f95-ad99-687cd9919ff2" targetNamespace="http://schemas.microsoft.com/office/2006/metadata/properties" ma:root="true" ma:fieldsID="b70059cf3ff93fc39f16c5feafbf3fff" ns3:_="" ns4:_="">
    <xsd:import namespace="dc972280-2925-48d0-8820-ed89fde0201b"/>
    <xsd:import namespace="a7dafac9-72b8-4f95-ad99-687cd9919ff2"/>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BillingMetadata"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c972280-2925-48d0-8820-ed89fde020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dafac9-72b8-4f95-ad99-687cd9919ff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7AB69D-163E-4AB9-A835-D4B80BBB6269}">
  <ds:schemaRefs>
    <ds:schemaRef ds:uri="http://www.w3.org/XML/1998/namespace"/>
    <ds:schemaRef ds:uri="http://purl.org/dc/dcmitype/"/>
    <ds:schemaRef ds:uri="http://schemas.microsoft.com/office/infopath/2007/PartnerControls"/>
    <ds:schemaRef ds:uri="http://schemas.microsoft.com/office/2006/metadata/properties"/>
    <ds:schemaRef ds:uri="dc972280-2925-48d0-8820-ed89fde0201b"/>
    <ds:schemaRef ds:uri="http://purl.org/dc/terms/"/>
    <ds:schemaRef ds:uri="a7dafac9-72b8-4f95-ad99-687cd9919ff2"/>
    <ds:schemaRef ds:uri="http://schemas.microsoft.com/office/2006/documentManagement/types"/>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120A1A0C-1DE7-40F8-9575-742BEA6A9F1B}">
  <ds:schemaRefs>
    <ds:schemaRef ds:uri="http://schemas.microsoft.com/sharepoint/v3/contenttype/forms"/>
  </ds:schemaRefs>
</ds:datastoreItem>
</file>

<file path=customXml/itemProps3.xml><?xml version="1.0" encoding="utf-8"?>
<ds:datastoreItem xmlns:ds="http://schemas.openxmlformats.org/officeDocument/2006/customXml" ds:itemID="{84614B77-C458-4DBE-AB3D-8AB497D613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c972280-2925-48d0-8820-ed89fde0201b"/>
    <ds:schemaRef ds:uri="a7dafac9-72b8-4f95-ad99-687cd9919f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211</TotalTime>
  <Words>1263</Words>
  <Application>Microsoft Office PowerPoint</Application>
  <PresentationFormat>Widescreen</PresentationFormat>
  <Paragraphs>73</Paragraphs>
  <Slides>16</Slides>
  <Notes>0</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Home-made Wind Tunnel Project (not yet finished)</vt:lpstr>
      <vt:lpstr>The Aim:</vt:lpstr>
      <vt:lpstr>The structure of a wind tunnel:</vt:lpstr>
      <vt:lpstr>Choosing a fan:</vt:lpstr>
      <vt:lpstr>Smoke Generation:</vt:lpstr>
      <vt:lpstr>Collecting Data:</vt:lpstr>
      <vt:lpstr>Designing the tunnel</vt:lpstr>
      <vt:lpstr>Designing the tunnel:</vt:lpstr>
      <vt:lpstr>Designing the tunnel:</vt:lpstr>
      <vt:lpstr>Designing the tunnel:</vt:lpstr>
      <vt:lpstr>Building The Tunnel:</vt:lpstr>
      <vt:lpstr>Building the tunnel</vt:lpstr>
      <vt:lpstr>Building the tunnel</vt:lpstr>
      <vt:lpstr>Testing:</vt:lpstr>
      <vt:lpstr>Fixing The Window:</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Arjan Sanghera (Student 12GZS)</dc:creator>
  <cp:lastModifiedBy>Arjan Sanghera (Student 12GZS)</cp:lastModifiedBy>
  <cp:revision>3</cp:revision>
  <dcterms:created xsi:type="dcterms:W3CDTF">2026-03-29T14:27:00Z</dcterms:created>
  <dcterms:modified xsi:type="dcterms:W3CDTF">2026-03-29T17:59:58Z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0x01010082F172397BDC49498993A1DE19A3F976</vt:lpwstr>
  </property>
</Properties>
</file>